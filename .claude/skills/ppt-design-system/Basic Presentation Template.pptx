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4" r:id="rId4"/>
  </p:sldMasterIdLst>
  <p:notesMasterIdLst>
    <p:notesMasterId r:id="rId13"/>
  </p:notesMasterIdLst>
  <p:sldIdLst>
    <p:sldId id="352" r:id="rId5"/>
    <p:sldId id="920" r:id="rId6"/>
    <p:sldId id="316" r:id="rId7"/>
    <p:sldId id="8527" r:id="rId8"/>
    <p:sldId id="8522" r:id="rId9"/>
    <p:sldId id="304" r:id="rId10"/>
    <p:sldId id="305" r:id="rId11"/>
    <p:sldId id="612" r:id="rId12"/>
  </p:sldIdLst>
  <p:sldSz cx="12192000" cy="6858000"/>
  <p:notesSz cx="6858000" cy="9144000"/>
  <p:defaultTextStyle>
    <a:defPPr>
      <a:defRPr lang="en-US"/>
    </a:defPPr>
    <a:lvl1pPr marL="0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5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2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09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86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63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17" algn="l" defTabSz="914355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A8C306A-FC99-94D8-9CE7-41226D25945E}" name="Alexandru Craiu" initials="AC" userId="S::alex.craiu@trustflight.com::bf72ae8b-33ff-49ef-b84e-d4843c5d563a" providerId="AD"/>
  <p188:author id="{8E3BFD9B-DDDC-5055-C478-A64C6EFF7E9B}" name="Thomas Lemaire" initials="TL" userId="S::thomas.lemaire@trustflight.com::d153cba2-394e-45bc-8cdb-94eb36671916" providerId="AD"/>
  <p188:author id="{CC92DEE4-14B8-65B1-117B-53DB6FB9A0FD}" name="Reuben Mann" initials="RM" userId="S::reuben.mann@trustflight.com::fe407263-5cb5-42c8-9f36-e2998db4966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31022"/>
    <a:srgbClr val="479FF8"/>
    <a:srgbClr val="00D5FF"/>
    <a:srgbClr val="083976"/>
    <a:srgbClr val="051B38"/>
    <a:srgbClr val="D90082"/>
    <a:srgbClr val="242D41"/>
    <a:srgbClr val="CFE2F3"/>
    <a:srgbClr val="1E5BB5"/>
    <a:srgbClr val="EFF8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10"/>
    <p:restoredTop sz="96296"/>
  </p:normalViewPr>
  <p:slideViewPr>
    <p:cSldViewPr snapToGrid="0">
      <p:cViewPr varScale="1">
        <p:scale>
          <a:sx n="137" d="100"/>
          <a:sy n="137" d="100"/>
        </p:scale>
        <p:origin x="208" y="10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microsoft.com/office/2018/10/relationships/authors" Target="author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3DFF91-E63B-E948-B3A5-1D1BF1CECDF7}" type="datetimeFigureOut">
              <a:rPr lang="en-US" smtClean="0"/>
              <a:t>5/22/26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95CE4-0521-0C49-933F-6556F583EA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9376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7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5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2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09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86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63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0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17" algn="l" defTabSz="914355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dirty="0"/>
              <a:t>1. </a:t>
            </a:r>
            <a:r>
              <a:rPr lang="en-GB" sz="1800" b="1" dirty="0">
                <a:solidFill>
                  <a:srgbClr val="FFFFFF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Scale &amp; Growth</a:t>
            </a:r>
          </a:p>
          <a:p>
            <a:pPr algn="l"/>
            <a:r>
              <a:rPr lang="en-GB" sz="1200" dirty="0">
                <a:solidFill>
                  <a:srgbClr val="E0E7F5"/>
                </a:solidFill>
                <a:latin typeface="Open Sans Light"/>
              </a:rPr>
              <a:t>Serving 10M+ passengers annually, with continued expansion placing new demands on safety governance across a multi-stakeholder environment.</a:t>
            </a:r>
          </a:p>
          <a:p>
            <a:endParaRPr lang="en-US" dirty="0"/>
          </a:p>
          <a:p>
            <a:pPr algn="l"/>
            <a:r>
              <a:rPr lang="en-US" dirty="0"/>
              <a:t>2. </a:t>
            </a:r>
            <a:r>
              <a:rPr lang="en-GB" sz="1800" b="1" dirty="0">
                <a:solidFill>
                  <a:srgbClr val="FFFFFF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Regulatory Landscape</a:t>
            </a:r>
          </a:p>
          <a:p>
            <a:pPr algn="l"/>
            <a:r>
              <a:rPr lang="en-GB" sz="1200" dirty="0">
                <a:solidFill>
                  <a:srgbClr val="E0E7F5"/>
                </a:solidFill>
                <a:latin typeface="Open Sans Light"/>
              </a:rPr>
              <a:t>CAA oversight spanning airside, landside, and terminal operations — diverse reporting requirements handled in one place.</a:t>
            </a:r>
          </a:p>
          <a:p>
            <a:endParaRPr lang="en-US" dirty="0"/>
          </a:p>
          <a:p>
            <a:pPr algn="l"/>
            <a:r>
              <a:rPr lang="en-US" dirty="0"/>
              <a:t>3. </a:t>
            </a:r>
            <a:r>
              <a:rPr lang="en-GB" sz="1800" b="1" dirty="0">
                <a:solidFill>
                  <a:srgbClr val="FFFFFF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Operational Breadth</a:t>
            </a:r>
          </a:p>
          <a:p>
            <a:pPr algn="l"/>
            <a:r>
              <a:rPr lang="en-GB" sz="1200" dirty="0">
                <a:solidFill>
                  <a:srgbClr val="E0E7F5"/>
                </a:solidFill>
                <a:latin typeface="Open Sans Light"/>
              </a:rPr>
              <a:t>Ground handling, construction, retail, and passenger services — a mix that demands configurable workflows and visibility across departments.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B95CE4-0521-0C49-933F-6556F583EA4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8525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B95CE4-0521-0C49-933F-6556F583EA4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8525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Title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black dotted surface&#10;&#10;AI-generated content may be incorrect.">
            <a:extLst>
              <a:ext uri="{FF2B5EF4-FFF2-40B4-BE49-F238E27FC236}">
                <a16:creationId xmlns:a16="http://schemas.microsoft.com/office/drawing/2014/main" id="{4DFC67AA-671B-76C7-F859-AFBE58C418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9681" y="4003049"/>
            <a:ext cx="9354088" cy="747897"/>
          </a:xfrm>
        </p:spPr>
        <p:txBody>
          <a:bodyPr/>
          <a:lstStyle>
            <a:lvl1pPr>
              <a:defRPr sz="5400">
                <a:solidFill>
                  <a:srgbClr val="E0E8F7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796B70E-0D2E-BDE9-17BD-D71B32B6E8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19681" y="4890961"/>
            <a:ext cx="5215043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buNone/>
              <a:defRPr sz="2400">
                <a:solidFill>
                  <a:srgbClr val="479FF8"/>
                </a:solidFill>
              </a:defRPr>
            </a:lvl1pPr>
            <a:lvl2pPr marL="457177" indent="0">
              <a:buNone/>
              <a:defRPr>
                <a:solidFill>
                  <a:schemeClr val="bg1"/>
                </a:solidFill>
              </a:defRPr>
            </a:lvl2pPr>
            <a:lvl3pPr marL="914354" indent="0">
              <a:buNone/>
              <a:defRPr>
                <a:solidFill>
                  <a:schemeClr val="bg1"/>
                </a:solidFill>
              </a:defRPr>
            </a:lvl3pPr>
            <a:lvl4pPr marL="1371531" indent="0">
              <a:buNone/>
              <a:defRPr>
                <a:solidFill>
                  <a:schemeClr val="bg1"/>
                </a:solidFill>
              </a:defRPr>
            </a:lvl4pPr>
            <a:lvl5pPr marL="182870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8CE164C6-CEA2-882D-0254-DA262B858E7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67518" y="6101496"/>
            <a:ext cx="5215043" cy="19389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400">
                <a:solidFill>
                  <a:srgbClr val="E0E8F7"/>
                </a:solidFill>
              </a:defRPr>
            </a:lvl1pPr>
            <a:lvl2pPr marL="457177" indent="0">
              <a:buNone/>
              <a:defRPr>
                <a:solidFill>
                  <a:schemeClr val="bg1"/>
                </a:solidFill>
              </a:defRPr>
            </a:lvl2pPr>
            <a:lvl3pPr marL="914354" indent="0">
              <a:buNone/>
              <a:defRPr>
                <a:solidFill>
                  <a:schemeClr val="bg1"/>
                </a:solidFill>
              </a:defRPr>
            </a:lvl3pPr>
            <a:lvl4pPr marL="1371531" indent="0">
              <a:buNone/>
              <a:defRPr>
                <a:solidFill>
                  <a:schemeClr val="bg1"/>
                </a:solidFill>
              </a:defRPr>
            </a:lvl4pPr>
            <a:lvl5pPr marL="182870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fld id="{950A574D-F250-8345-BCFE-50000BC0A5B0}" type="datetime3">
              <a:rPr lang="en-GB" smtClean="0"/>
              <a:t>6 January, 2026</a:t>
            </a:fld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EBB041-6C25-006B-B2E3-00DB27F26BB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73784" y="3068575"/>
            <a:ext cx="3434827" cy="576311"/>
          </a:xfrm>
          <a:prstGeom prst="rect">
            <a:avLst/>
          </a:prstGeom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ECE5C3A-7D84-D2F3-8F8F-22255907DB0C}"/>
              </a:ext>
            </a:extLst>
          </p:cNvPr>
          <p:cNvSpPr/>
          <p:nvPr userDrawn="1"/>
        </p:nvSpPr>
        <p:spPr>
          <a:xfrm>
            <a:off x="4593515" y="-1269401"/>
            <a:ext cx="8961120" cy="4914288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150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Radial split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9C6A0AAC-54D3-2D1D-011D-ED65EF41023A}"/>
              </a:ext>
            </a:extLst>
          </p:cNvPr>
          <p:cNvGrpSpPr/>
          <p:nvPr userDrawn="1"/>
        </p:nvGrpSpPr>
        <p:grpSpPr>
          <a:xfrm rot="20581426">
            <a:off x="5847453" y="-1193426"/>
            <a:ext cx="9244853" cy="9244853"/>
            <a:chOff x="7566920" y="-1193426"/>
            <a:chExt cx="9244853" cy="9244853"/>
          </a:xfrm>
        </p:grpSpPr>
        <p:pic>
          <p:nvPicPr>
            <p:cNvPr id="18" name="Picture 17" descr="A blue circles on a black background&#10;&#10;AI-generated content may be incorrect.">
              <a:extLst>
                <a:ext uri="{FF2B5EF4-FFF2-40B4-BE49-F238E27FC236}">
                  <a16:creationId xmlns:a16="http://schemas.microsoft.com/office/drawing/2014/main" id="{55999312-CF81-DA5D-D70A-5E5FA9E7EE9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7566920" y="-1193426"/>
              <a:ext cx="9244853" cy="9244853"/>
            </a:xfrm>
            <a:prstGeom prst="rect">
              <a:avLst/>
            </a:prstGeom>
          </p:spPr>
        </p:pic>
        <p:pic>
          <p:nvPicPr>
            <p:cNvPr id="19" name="Picture 18" descr="A blue and white airplane&#10;&#10;AI-generated content may be incorrect.">
              <a:extLst>
                <a:ext uri="{FF2B5EF4-FFF2-40B4-BE49-F238E27FC236}">
                  <a16:creationId xmlns:a16="http://schemas.microsoft.com/office/drawing/2014/main" id="{89AD0A1B-CF22-88CD-4ACF-ADA7108D18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 rot="19769839">
              <a:off x="9528378" y="4474031"/>
              <a:ext cx="629917" cy="668816"/>
            </a:xfrm>
            <a:prstGeom prst="rect">
              <a:avLst/>
            </a:prstGeom>
          </p:spPr>
        </p:pic>
        <p:pic>
          <p:nvPicPr>
            <p:cNvPr id="20" name="Picture 19" descr="A blue airplane on a black background&#10;&#10;AI-generated content may be incorrect.">
              <a:extLst>
                <a:ext uri="{FF2B5EF4-FFF2-40B4-BE49-F238E27FC236}">
                  <a16:creationId xmlns:a16="http://schemas.microsoft.com/office/drawing/2014/main" id="{0638D31B-D502-5223-DA14-51B0AAB45C6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 rot="2464015">
              <a:off x="10336371" y="1652053"/>
              <a:ext cx="742684" cy="911965"/>
            </a:xfrm>
            <a:prstGeom prst="rect">
              <a:avLst/>
            </a:prstGeom>
          </p:spPr>
        </p:pic>
        <p:pic>
          <p:nvPicPr>
            <p:cNvPr id="21" name="Picture 20" descr="A helicopter with a propeller&#10;&#10;AI-generated content may be incorrect.">
              <a:extLst>
                <a:ext uri="{FF2B5EF4-FFF2-40B4-BE49-F238E27FC236}">
                  <a16:creationId xmlns:a16="http://schemas.microsoft.com/office/drawing/2014/main" id="{49DA7B25-CC6E-56AA-9AE1-7246899FEC3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tretch>
              <a:fillRect/>
            </a:stretch>
          </p:blipFill>
          <p:spPr>
            <a:xfrm rot="18616815">
              <a:off x="9868220" y="5937608"/>
              <a:ext cx="516951" cy="625055"/>
            </a:xfrm>
            <a:prstGeom prst="rect">
              <a:avLst/>
            </a:prstGeom>
          </p:spPr>
        </p:pic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E031189B-2588-A744-4A5B-4BF83CCF2CBC}"/>
              </a:ext>
            </a:extLst>
          </p:cNvPr>
          <p:cNvSpPr/>
          <p:nvPr userDrawn="1"/>
        </p:nvSpPr>
        <p:spPr>
          <a:xfrm>
            <a:off x="-1" y="4843849"/>
            <a:ext cx="12191999" cy="2014151"/>
          </a:xfrm>
          <a:prstGeom prst="rect">
            <a:avLst/>
          </a:prstGeom>
          <a:solidFill>
            <a:srgbClr val="EFF8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3887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E71881E-0117-4368-8C45-D6C63E60CEFE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87129FB-B01E-6A59-497C-526AF62706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63CF3DC3-DDA2-6D1C-4DFB-7134C9E032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19B7852-B8C1-AE58-523F-878D39D12485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ABBEE02-75EF-F4D4-AA76-B1810DDBFD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0D5FF"/>
              </a:gs>
              <a:gs pos="0">
                <a:srgbClr val="083976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74AF19C-471A-A197-80E0-0107F8AE3900}"/>
              </a:ext>
            </a:extLst>
          </p:cNvPr>
          <p:cNvSpPr/>
          <p:nvPr userDrawn="1"/>
        </p:nvSpPr>
        <p:spPr>
          <a:xfrm>
            <a:off x="10122413" y="-286510"/>
            <a:ext cx="2393437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55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Radial Split 2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circles on a black background&#10;&#10;AI-generated content may be incorrect.">
            <a:extLst>
              <a:ext uri="{FF2B5EF4-FFF2-40B4-BE49-F238E27FC236}">
                <a16:creationId xmlns:a16="http://schemas.microsoft.com/office/drawing/2014/main" id="{69D14879-3FD1-B399-D134-A8B34CDC9B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 rot="6452641">
            <a:off x="1473573" y="-1106715"/>
            <a:ext cx="9244853" cy="924485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031189B-2588-A744-4A5B-4BF83CCF2CBC}"/>
              </a:ext>
            </a:extLst>
          </p:cNvPr>
          <p:cNvSpPr/>
          <p:nvPr userDrawn="1"/>
        </p:nvSpPr>
        <p:spPr>
          <a:xfrm>
            <a:off x="-1" y="4843849"/>
            <a:ext cx="12191999" cy="2014151"/>
          </a:xfrm>
          <a:prstGeom prst="rect">
            <a:avLst/>
          </a:prstGeom>
          <a:solidFill>
            <a:srgbClr val="EFF8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3887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E71881E-0117-4368-8C45-D6C63E60CEFE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87129FB-B01E-6A59-497C-526AF62706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BE9F6B8-96F5-EE51-43C0-29D3B5BA3FF4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C9296EB-2AB4-4111-0075-4D54AC9386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8FA4049-60F5-491C-CC0F-1DAE70CCBAD7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0D5FF"/>
              </a:gs>
              <a:gs pos="0">
                <a:srgbClr val="083976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B8ADE13-7425-C423-36A8-9810E5C283F6}"/>
              </a:ext>
            </a:extLst>
          </p:cNvPr>
          <p:cNvSpPr/>
          <p:nvPr userDrawn="1"/>
        </p:nvSpPr>
        <p:spPr>
          <a:xfrm>
            <a:off x="10122413" y="-286510"/>
            <a:ext cx="2393437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241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Radial Centre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blue circles on a black background&#10;&#10;AI-generated content may be incorrect.">
            <a:extLst>
              <a:ext uri="{FF2B5EF4-FFF2-40B4-BE49-F238E27FC236}">
                <a16:creationId xmlns:a16="http://schemas.microsoft.com/office/drawing/2014/main" id="{55999312-CF81-DA5D-D70A-5E5FA9E7EE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 rot="6452641">
            <a:off x="1473571" y="-1193426"/>
            <a:ext cx="9244853" cy="9244853"/>
          </a:xfrm>
          <a:prstGeom prst="rect">
            <a:avLst/>
          </a:prstGeom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56EA198-A2E3-F7E9-18A0-F2CD84A0C83F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3887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D06611B-F559-C2E0-D70A-FCBB3A56D9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E0E8F7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4A857AFF-B595-58E1-9511-6BF025D72168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966E1D-27CB-9CAE-BEC0-519A8246C131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0">
                <a:srgbClr val="CFE2F3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79A745F5-D09F-3BA7-3BF3-46D75C0E4C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CFE2F3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55C5412-3888-9516-BAB6-368B6ACD1675}"/>
              </a:ext>
            </a:extLst>
          </p:cNvPr>
          <p:cNvSpPr/>
          <p:nvPr userDrawn="1"/>
        </p:nvSpPr>
        <p:spPr>
          <a:xfrm>
            <a:off x="10122413" y="-286510"/>
            <a:ext cx="2393437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6343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Blank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56EA198-A2E3-F7E9-18A0-F2CD84A0C83F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D06611B-F559-C2E0-D70A-FCBB3A56D9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E0E8F7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940333D-10CE-DA32-F1DC-0F004BD0356F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2B9C2B-7E14-89DA-DFCC-408BF1DD5672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0">
                <a:srgbClr val="CFE2F3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CEA4D19C-17E5-6B06-9BE1-E1F4F27DF8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CFE2F3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ACD618A-957A-2D24-000F-C2D2748B8C2A}"/>
              </a:ext>
            </a:extLst>
          </p:cNvPr>
          <p:cNvSpPr/>
          <p:nvPr userDrawn="1"/>
        </p:nvSpPr>
        <p:spPr>
          <a:xfrm>
            <a:off x="10122413" y="-286510"/>
            <a:ext cx="2393437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499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Globe Split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ue circles on a black background&#10;&#10;AI-generated content may be incorrect.">
            <a:extLst>
              <a:ext uri="{FF2B5EF4-FFF2-40B4-BE49-F238E27FC236}">
                <a16:creationId xmlns:a16="http://schemas.microsoft.com/office/drawing/2014/main" id="{F2F26713-7C9D-6F0B-0011-AF754F4241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 rot="6452641">
            <a:off x="7584110" y="-1874744"/>
            <a:ext cx="9244853" cy="9244853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19207E-3F35-CD84-0CED-B1618F8C144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405782" y="944803"/>
            <a:ext cx="3572435" cy="356698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B055498-3013-8FBE-B680-30D25ED0BA42}"/>
              </a:ext>
            </a:extLst>
          </p:cNvPr>
          <p:cNvSpPr/>
          <p:nvPr userDrawn="1"/>
        </p:nvSpPr>
        <p:spPr>
          <a:xfrm>
            <a:off x="-1" y="4843849"/>
            <a:ext cx="12191999" cy="2014151"/>
          </a:xfrm>
          <a:prstGeom prst="rect">
            <a:avLst/>
          </a:prstGeom>
          <a:solidFill>
            <a:srgbClr val="EFF8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12B68EC-D0DA-54CD-18E4-4639FE2CDFDC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E740AF2B-59A0-DBEC-6E84-EC7BD1EAF4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434BF88-F15B-815A-FDDB-8E9C9478C6A9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566CDEB6-7A1D-6109-42FC-D9A1581E33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265F3A7-827A-682A-6ECF-7FB99FB6D389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0D5FF"/>
              </a:gs>
              <a:gs pos="0">
                <a:srgbClr val="083976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290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ark - Globe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ue circles on a black background&#10;&#10;AI-generated content may be incorrect.">
            <a:extLst>
              <a:ext uri="{FF2B5EF4-FFF2-40B4-BE49-F238E27FC236}">
                <a16:creationId xmlns:a16="http://schemas.microsoft.com/office/drawing/2014/main" id="{F2F26713-7C9D-6F0B-0011-AF754F4241C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 rot="6452641">
            <a:off x="7584110" y="-1874744"/>
            <a:ext cx="9244853" cy="9244853"/>
          </a:xfrm>
          <a:prstGeom prst="rect">
            <a:avLst/>
          </a:prstGeom>
        </p:spPr>
      </p:pic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19207E-3F35-CD84-0CED-B1618F8C144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10405782" y="944803"/>
            <a:ext cx="3572435" cy="3566980"/>
          </a:xfrm>
          <a:prstGeom prst="rect">
            <a:avLst/>
          </a:prstGeom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E0CD03D-BF27-E0C2-C3DE-16C26321AC02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871390C9-6FA6-0582-80FE-B7C9B5BEFA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E0E8F7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A199661-3BA7-E2BC-CC90-E0EB0694B282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EB5DB8-87F8-6159-8FDF-B3D3464510ED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0">
                <a:srgbClr val="CFE2F3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47A178D5-C017-8731-243C-46489A1FB5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CFE2F3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61C64DD-CC35-A65A-2577-526196156C6B}"/>
              </a:ext>
            </a:extLst>
          </p:cNvPr>
          <p:cNvSpPr/>
          <p:nvPr userDrawn="1"/>
        </p:nvSpPr>
        <p:spPr>
          <a:xfrm>
            <a:off x="10122413" y="-286510"/>
            <a:ext cx="2393437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7358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Section Break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442DE2E-5B8F-6CE4-54C3-E6157C4753EB}"/>
              </a:ext>
            </a:extLst>
          </p:cNvPr>
          <p:cNvGrpSpPr/>
          <p:nvPr userDrawn="1"/>
        </p:nvGrpSpPr>
        <p:grpSpPr>
          <a:xfrm>
            <a:off x="5847453" y="-1193426"/>
            <a:ext cx="9244853" cy="9244853"/>
            <a:chOff x="7566920" y="-1193426"/>
            <a:chExt cx="9244853" cy="9244853"/>
          </a:xfrm>
        </p:grpSpPr>
        <p:pic>
          <p:nvPicPr>
            <p:cNvPr id="7" name="Picture 6" descr="A blue circles on a black background&#10;&#10;AI-generated content may be incorrect.">
              <a:extLst>
                <a:ext uri="{FF2B5EF4-FFF2-40B4-BE49-F238E27FC236}">
                  <a16:creationId xmlns:a16="http://schemas.microsoft.com/office/drawing/2014/main" id="{D08A3E1C-39F1-8078-A76D-1AC7E9712D0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7566920" y="-1193426"/>
              <a:ext cx="9244853" cy="9244853"/>
            </a:xfrm>
            <a:prstGeom prst="rect">
              <a:avLst/>
            </a:prstGeom>
          </p:spPr>
        </p:pic>
        <p:pic>
          <p:nvPicPr>
            <p:cNvPr id="11" name="Picture 10" descr="A blue and white airplane&#10;&#10;AI-generated content may be incorrect.">
              <a:extLst>
                <a:ext uri="{FF2B5EF4-FFF2-40B4-BE49-F238E27FC236}">
                  <a16:creationId xmlns:a16="http://schemas.microsoft.com/office/drawing/2014/main" id="{0AFF6174-8FD9-567F-5F1F-3CDA80E82EB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 rot="19769839">
              <a:off x="9528378" y="4474031"/>
              <a:ext cx="629917" cy="668816"/>
            </a:xfrm>
            <a:prstGeom prst="rect">
              <a:avLst/>
            </a:prstGeom>
          </p:spPr>
        </p:pic>
        <p:pic>
          <p:nvPicPr>
            <p:cNvPr id="13" name="Picture 12" descr="A blue airplane on a black background&#10;&#10;AI-generated content may be incorrect.">
              <a:extLst>
                <a:ext uri="{FF2B5EF4-FFF2-40B4-BE49-F238E27FC236}">
                  <a16:creationId xmlns:a16="http://schemas.microsoft.com/office/drawing/2014/main" id="{F51948AD-0172-CFE1-C964-0B7BEA9327F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 rot="2464015">
              <a:off x="10336371" y="1652053"/>
              <a:ext cx="742684" cy="911965"/>
            </a:xfrm>
            <a:prstGeom prst="rect">
              <a:avLst/>
            </a:prstGeom>
          </p:spPr>
        </p:pic>
        <p:pic>
          <p:nvPicPr>
            <p:cNvPr id="15" name="Picture 14" descr="A helicopter with a propeller&#10;&#10;AI-generated content may be incorrect.">
              <a:extLst>
                <a:ext uri="{FF2B5EF4-FFF2-40B4-BE49-F238E27FC236}">
                  <a16:creationId xmlns:a16="http://schemas.microsoft.com/office/drawing/2014/main" id="{D2CEBE7D-CA87-089C-194E-7DEB851CBA5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tretch>
              <a:fillRect/>
            </a:stretch>
          </p:blipFill>
          <p:spPr>
            <a:xfrm rot="18616815">
              <a:off x="9868220" y="5937608"/>
              <a:ext cx="516951" cy="625055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1" y="2875002"/>
            <a:ext cx="8331626" cy="553998"/>
          </a:xfrm>
        </p:spPr>
        <p:txBody>
          <a:bodyPr/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2C72C0B-77D9-BCF2-79CE-2EEEB645B4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E0E8F7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A235382-B2F0-543D-52FA-037B0B803308}"/>
              </a:ext>
            </a:extLst>
          </p:cNvPr>
          <p:cNvSpPr/>
          <p:nvPr userDrawn="1"/>
        </p:nvSpPr>
        <p:spPr>
          <a:xfrm rot="5400000">
            <a:off x="-637538" y="2802195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37C9A04B-12B5-AFA9-D297-C3091944C788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6ECB326-8166-1AE2-CEFB-55D4F5159F1B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9127F0-7558-55A0-C85A-D692B3C4C67B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0">
                <a:srgbClr val="CFE2F3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2667696-9A43-5FB6-5308-963F3862BA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CFE2F3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59CA074-5E60-E37C-1BCC-1B8AEC939F30}"/>
              </a:ext>
            </a:extLst>
          </p:cNvPr>
          <p:cNvSpPr/>
          <p:nvPr userDrawn="1"/>
        </p:nvSpPr>
        <p:spPr>
          <a:xfrm>
            <a:off x="10122413" y="-286510"/>
            <a:ext cx="2393437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357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End"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black dotted surface&#10;&#10;AI-generated content may be incorrect.">
            <a:extLst>
              <a:ext uri="{FF2B5EF4-FFF2-40B4-BE49-F238E27FC236}">
                <a16:creationId xmlns:a16="http://schemas.microsoft.com/office/drawing/2014/main" id="{4DFC67AA-671B-76C7-F859-AFBE58C418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18956" y="2345582"/>
            <a:ext cx="9354088" cy="747897"/>
          </a:xfrm>
        </p:spPr>
        <p:txBody>
          <a:bodyPr/>
          <a:lstStyle>
            <a:lvl1pPr algn="ctr">
              <a:defRPr sz="5400">
                <a:solidFill>
                  <a:srgbClr val="E0E8F7"/>
                </a:solidFill>
              </a:defRPr>
            </a:lvl1pPr>
          </a:lstStyle>
          <a:p>
            <a:r>
              <a:rPr lang="en-GB" dirty="0"/>
              <a:t>Thank You!</a:t>
            </a:r>
            <a:endParaRPr lang="en-US" dirty="0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EC83743-15DF-5215-1335-C457954F0AC8}"/>
              </a:ext>
            </a:extLst>
          </p:cNvPr>
          <p:cNvSpPr/>
          <p:nvPr userDrawn="1"/>
        </p:nvSpPr>
        <p:spPr>
          <a:xfrm rot="5400000">
            <a:off x="2272161" y="-700159"/>
            <a:ext cx="4633756" cy="13199636"/>
          </a:xfrm>
          <a:prstGeom prst="roundRect">
            <a:avLst>
              <a:gd name="adj" fmla="val 2622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09C35C-5F72-B478-0976-9BA5B70B3AF9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chemeClr val="bg1"/>
              </a:gs>
              <a:gs pos="0">
                <a:srgbClr val="CFE2F3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1481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Light - Main">
    <p:bg>
      <p:bgPr>
        <a:solidFill>
          <a:srgbClr val="DFF3FD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29C9826-0CE3-7C4B-D683-A1C19C6957AA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>
            <a:spAutoFit/>
          </a:bodyPr>
          <a:lstStyle>
            <a:lvl1pPr>
              <a:defRPr>
                <a:solidFill>
                  <a:srgbClr val="062955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6288-9E17-B744-8198-AA89061BF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85446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>
                <a:solidFill>
                  <a:srgbClr val="242D41"/>
                </a:solidFill>
              </a:defRPr>
            </a:lvl1pPr>
            <a:lvl2pPr>
              <a:defRPr sz="1800">
                <a:solidFill>
                  <a:srgbClr val="242D41"/>
                </a:solidFill>
              </a:defRPr>
            </a:lvl2pPr>
            <a:lvl3pPr>
              <a:defRPr sz="1800">
                <a:solidFill>
                  <a:srgbClr val="242D41"/>
                </a:solidFill>
              </a:defRPr>
            </a:lvl3pPr>
            <a:lvl4pPr>
              <a:defRPr sz="1800">
                <a:solidFill>
                  <a:srgbClr val="242D41"/>
                </a:solidFill>
              </a:defRPr>
            </a:lvl4pPr>
            <a:lvl5pPr>
              <a:defRPr>
                <a:solidFill>
                  <a:srgbClr val="242D4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3B5020-2488-D66C-615B-BFB237170F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469880" y="553451"/>
            <a:ext cx="1167938" cy="193255"/>
          </a:xfrm>
          <a:prstGeom prst="rect">
            <a:avLst/>
          </a:prstGeom>
        </p:spPr>
      </p:pic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02E0BCD-F9C8-0CB4-7C9E-0C8D74EBD01D}"/>
              </a:ext>
            </a:extLst>
          </p:cNvPr>
          <p:cNvSpPr/>
          <p:nvPr userDrawn="1"/>
        </p:nvSpPr>
        <p:spPr>
          <a:xfrm>
            <a:off x="10122413" y="-286510"/>
            <a:ext cx="2393437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32DF6B7-C760-0F07-2E67-9F27DA8ADABB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2C72C0B-77D9-BCF2-79CE-2EEEB645B4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30D52FC8-8236-AECC-B519-C009E49B7A4A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ooter Placeholder 4">
            <a:extLst>
              <a:ext uri="{FF2B5EF4-FFF2-40B4-BE49-F238E27FC236}">
                <a16:creationId xmlns:a16="http://schemas.microsoft.com/office/drawing/2014/main" id="{CF6A1B11-944C-82E4-2E07-5BF2F9797E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05AE6FB-A7F7-1E30-2469-9359A92D13E2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83976"/>
              </a:gs>
              <a:gs pos="0">
                <a:srgbClr val="051B38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1781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ark - Horizontal Split">
    <p:bg>
      <p:bgPr>
        <a:solidFill>
          <a:srgbClr val="DFF3FD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00F2557-1A29-544E-CDEF-6423CE8C59D9}"/>
              </a:ext>
            </a:extLst>
          </p:cNvPr>
          <p:cNvSpPr/>
          <p:nvPr userDrawn="1"/>
        </p:nvSpPr>
        <p:spPr>
          <a:xfrm>
            <a:off x="0" y="0"/>
            <a:ext cx="12192000" cy="3666931"/>
          </a:xfrm>
          <a:prstGeom prst="rect">
            <a:avLst/>
          </a:prstGeom>
          <a:solidFill>
            <a:srgbClr val="0310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32DF6B7-C760-0F07-2E67-9F27DA8ADABB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2C72C0B-77D9-BCF2-79CE-2EEEB645B4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960C71-889C-65A6-0FC1-CE539D20D8B4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83976"/>
              </a:gs>
              <a:gs pos="0">
                <a:srgbClr val="051B38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5B3B97F-CF1D-401B-80EF-67F683996964}"/>
              </a:ext>
            </a:extLst>
          </p:cNvPr>
          <p:cNvSpPr txBox="1">
            <a:spLocks/>
          </p:cNvSpPr>
          <p:nvPr userDrawn="1"/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r" defTabSz="914355" rtl="0" eaLnBrk="1" latinLnBrk="0" hangingPunct="1">
              <a:defRPr sz="1000" b="0" i="0" kern="120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177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5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6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3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7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2CB0140F-DA95-5649-55DC-197DA35ADD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19AA19-D362-65CC-9EFA-849D5EA57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 anchor="t" anchorCtr="0">
            <a:spAutoFit/>
          </a:bodyPr>
          <a:lstStyle>
            <a:lvl1pPr>
              <a:defRPr>
                <a:solidFill>
                  <a:srgbClr val="E0E8F7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73ED372-315E-51E6-C2CA-9CFD1D760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652627"/>
            <a:ext cx="9462670" cy="1189556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  <a:lvl2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2pPr>
            <a:lvl3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3pPr>
            <a:lvl4pPr>
              <a:defRPr sz="1800" b="0" i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4pPr>
            <a:lvl5pPr>
              <a:defRPr sz="1400">
                <a:solidFill>
                  <a:srgbClr val="E0E8F7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2014C7-6182-7239-C36F-EE77AE1157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469880" y="552098"/>
            <a:ext cx="1167938" cy="195962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4C8FF01-2D7A-1165-656F-AE27544A7F67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F4F6BFF-447B-D740-D2FA-022E506BD72D}"/>
              </a:ext>
            </a:extLst>
          </p:cNvPr>
          <p:cNvSpPr/>
          <p:nvPr userDrawn="1"/>
        </p:nvSpPr>
        <p:spPr>
          <a:xfrm>
            <a:off x="10122413" y="-286510"/>
            <a:ext cx="2393437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29716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ark - Vertical Split">
    <p:bg>
      <p:bgPr>
        <a:solidFill>
          <a:srgbClr val="DFF3FD">
            <a:alpha val="5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00F2557-1A29-544E-CDEF-6423CE8C59D9}"/>
              </a:ext>
            </a:extLst>
          </p:cNvPr>
          <p:cNvSpPr/>
          <p:nvPr userDrawn="1"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rgbClr val="03102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942139-C112-631F-FC3D-9A41B326D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52400"/>
            <a:ext cx="4390588" cy="1107996"/>
          </a:xfrm>
        </p:spPr>
        <p:txBody>
          <a:bodyPr wrap="square">
            <a:sp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32DF6B7-C760-0F07-2E67-9F27DA8ADABB}"/>
              </a:ext>
            </a:extLst>
          </p:cNvPr>
          <p:cNvSpPr/>
          <p:nvPr userDrawn="1"/>
        </p:nvSpPr>
        <p:spPr>
          <a:xfrm>
            <a:off x="11159985" y="6174604"/>
            <a:ext cx="1298715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A2C72C0B-77D9-BCF2-79CE-2EEEB645B4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960C71-889C-65A6-0FC1-CE539D20D8B4}"/>
              </a:ext>
            </a:extLst>
          </p:cNvPr>
          <p:cNvSpPr/>
          <p:nvPr userDrawn="1"/>
        </p:nvSpPr>
        <p:spPr>
          <a:xfrm>
            <a:off x="0" y="6792686"/>
            <a:ext cx="12192000" cy="65314"/>
          </a:xfrm>
          <a:prstGeom prst="rect">
            <a:avLst/>
          </a:prstGeom>
          <a:gradFill flip="none" rotWithShape="1">
            <a:gsLst>
              <a:gs pos="100000">
                <a:srgbClr val="083976"/>
              </a:gs>
              <a:gs pos="0">
                <a:srgbClr val="051B38"/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4E0C8C0-28ED-C902-C910-7E8A43383F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0000" y="1793025"/>
            <a:ext cx="4390588" cy="118955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800">
                <a:solidFill>
                  <a:schemeClr val="bg1"/>
                </a:solidFill>
              </a:defRPr>
            </a:lvl4pPr>
            <a:lvl5pPr>
              <a:defRPr>
                <a:solidFill>
                  <a:srgbClr val="242D4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57DAC76-BFD2-46CF-F748-7D0956ECC26D}"/>
              </a:ext>
            </a:extLst>
          </p:cNvPr>
          <p:cNvSpPr/>
          <p:nvPr userDrawn="1"/>
        </p:nvSpPr>
        <p:spPr>
          <a:xfrm rot="5400000">
            <a:off x="-637538" y="701880"/>
            <a:ext cx="1415978" cy="699612"/>
          </a:xfrm>
          <a:prstGeom prst="roundRect">
            <a:avLst>
              <a:gd name="adj" fmla="val 39925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C045780-084B-A2E0-7B53-406770048126}"/>
              </a:ext>
            </a:extLst>
          </p:cNvPr>
          <p:cNvSpPr/>
          <p:nvPr userDrawn="1"/>
        </p:nvSpPr>
        <p:spPr>
          <a:xfrm>
            <a:off x="-376058" y="6252425"/>
            <a:ext cx="4114800" cy="931488"/>
          </a:xfrm>
          <a:prstGeom prst="roundRect">
            <a:avLst>
              <a:gd name="adj" fmla="val 34426"/>
            </a:avLst>
          </a:prstGeom>
          <a:noFill/>
          <a:ln w="9525">
            <a:solidFill>
              <a:srgbClr val="0629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F350940A-FA50-6162-255B-50B39A3729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CFE2F3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B9F04E-F7DE-9D0B-2336-0B86C6C1F2E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0469880" y="553451"/>
            <a:ext cx="1167938" cy="193255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401B3B8-6603-3C99-BF99-AAE114EFD858}"/>
              </a:ext>
            </a:extLst>
          </p:cNvPr>
          <p:cNvSpPr/>
          <p:nvPr userDrawn="1"/>
        </p:nvSpPr>
        <p:spPr>
          <a:xfrm>
            <a:off x="10122413" y="-286510"/>
            <a:ext cx="2393437" cy="1338196"/>
          </a:xfrm>
          <a:prstGeom prst="roundRect">
            <a:avLst>
              <a:gd name="adj" fmla="val 23908"/>
            </a:avLst>
          </a:prstGeom>
          <a:noFill/>
          <a:ln w="9525">
            <a:solidFill>
              <a:srgbClr val="CFE2F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7472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3102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2349E2-4681-836F-67AB-F042E4764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695509"/>
            <a:ext cx="9462670" cy="553998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2C9E27D-846D-45F6-DEE4-1BB9AE2287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88476" y="6461968"/>
            <a:ext cx="549341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00" b="0" i="0">
                <a:solidFill>
                  <a:srgbClr val="E0E8F7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fld id="{1B377F6A-2966-294D-95D7-FBB58FDBE7C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6EB207E-5FEB-EE51-3199-FB5D822112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0000" y="1549684"/>
            <a:ext cx="10515600" cy="1918474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9113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67" r:id="rId2"/>
    <p:sldLayoutId id="2147483669" r:id="rId3"/>
    <p:sldLayoutId id="2147483668" r:id="rId4"/>
    <p:sldLayoutId id="2147483670" r:id="rId5"/>
    <p:sldLayoutId id="2147483673" r:id="rId6"/>
    <p:sldLayoutId id="2147483674" r:id="rId7"/>
    <p:sldLayoutId id="2147483666" r:id="rId8"/>
    <p:sldLayoutId id="2147483665" r:id="rId9"/>
    <p:sldLayoutId id="2147483672" r:id="rId10"/>
    <p:sldLayoutId id="2147483675" r:id="rId11"/>
    <p:sldLayoutId id="2147483676" r:id="rId12"/>
  </p:sldLayoutIdLst>
  <p:hf hdr="0"/>
  <p:txStyles>
    <p:titleStyle>
      <a:lvl1pPr algn="l" defTabSz="914355" rtl="0" eaLnBrk="1" latinLnBrk="0" hangingPunct="1">
        <a:lnSpc>
          <a:spcPct val="90000"/>
        </a:lnSpc>
        <a:spcBef>
          <a:spcPct val="0"/>
        </a:spcBef>
        <a:buNone/>
        <a:defRPr sz="4000" b="0" i="0" kern="1200">
          <a:solidFill>
            <a:srgbClr val="E0E8F7"/>
          </a:solidFill>
          <a:latin typeface="Open Sans Light" panose="020B0306030504020204" pitchFamily="34" charset="0"/>
          <a:ea typeface="Open Sans Light" panose="020B0306030504020204" pitchFamily="34" charset="0"/>
          <a:cs typeface="Open Sans Light" panose="020B0306030504020204" pitchFamily="34" charset="0"/>
        </a:defRPr>
      </a:lvl1pPr>
    </p:titleStyle>
    <p:bodyStyle>
      <a:lvl1pPr marL="228589" indent="-228589" algn="l" defTabSz="914355" rtl="0" eaLnBrk="1" latinLnBrk="0" hangingPunct="1">
        <a:lnSpc>
          <a:spcPct val="90000"/>
        </a:lnSpc>
        <a:spcBef>
          <a:spcPts val="1000"/>
        </a:spcBef>
        <a:buClr>
          <a:srgbClr val="1E5BB5"/>
        </a:buClr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1pPr>
      <a:lvl2pPr marL="685766" indent="-228589" algn="l" defTabSz="914355" rtl="0" eaLnBrk="1" latinLnBrk="0" hangingPunct="1">
        <a:lnSpc>
          <a:spcPct val="90000"/>
        </a:lnSpc>
        <a:spcBef>
          <a:spcPts val="500"/>
        </a:spcBef>
        <a:buClr>
          <a:srgbClr val="1E5BB5"/>
        </a:buClr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2pPr>
      <a:lvl3pPr marL="1142943" indent="-228589" algn="l" defTabSz="914355" rtl="0" eaLnBrk="1" latinLnBrk="0" hangingPunct="1">
        <a:lnSpc>
          <a:spcPct val="90000"/>
        </a:lnSpc>
        <a:spcBef>
          <a:spcPts val="500"/>
        </a:spcBef>
        <a:buClr>
          <a:srgbClr val="1E5BB5"/>
        </a:buClr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3pPr>
      <a:lvl4pPr marL="1600120" indent="-228589" algn="l" defTabSz="914355" rtl="0" eaLnBrk="1" latinLnBrk="0" hangingPunct="1">
        <a:lnSpc>
          <a:spcPct val="90000"/>
        </a:lnSpc>
        <a:spcBef>
          <a:spcPts val="500"/>
        </a:spcBef>
        <a:buClr>
          <a:srgbClr val="1E5BB5"/>
        </a:buClr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4pPr>
      <a:lvl5pPr marL="2057297" indent="-228589" algn="l" defTabSz="914355" rtl="0" eaLnBrk="1" latinLnBrk="0" hangingPunct="1">
        <a:lnSpc>
          <a:spcPct val="90000"/>
        </a:lnSpc>
        <a:spcBef>
          <a:spcPts val="500"/>
        </a:spcBef>
        <a:buClr>
          <a:srgbClr val="1E5BB5"/>
        </a:buClr>
        <a:buFont typeface="Arial" panose="020B0604020202020204" pitchFamily="34" charset="0"/>
        <a:buChar char="•"/>
        <a:defRPr sz="2400" b="0" i="0" kern="1200">
          <a:solidFill>
            <a:schemeClr val="bg1"/>
          </a:solidFill>
          <a:latin typeface="Open Sans Light" panose="020B0606030504020204" pitchFamily="34" charset="0"/>
          <a:ea typeface="Open Sans Light" panose="020B0606030504020204" pitchFamily="34" charset="0"/>
          <a:cs typeface="Open Sans Light" panose="020B0606030504020204" pitchFamily="34" charset="0"/>
        </a:defRPr>
      </a:lvl5pPr>
      <a:lvl6pPr marL="2514475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5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7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5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3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7" algn="l" defTabSz="914355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mailto:sales@trustflight.com?subject=Hello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2.png"/><Relationship Id="rId5" Type="http://schemas.openxmlformats.org/officeDocument/2006/relationships/hyperlink" Target="https://www.linkedin.com/company/trustflight/mycompany/" TargetMode="External"/><Relationship Id="rId4" Type="http://schemas.openxmlformats.org/officeDocument/2006/relationships/hyperlink" Target="http://www.trustflight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D6051-63E7-ECCC-A56B-A0A982A4E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1A0630-8131-4E49-089A-37F0D9289B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0" tIns="0" rIns="0" bIns="0">
            <a:spAutoFit/>
          </a:bodyPr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E43E4C-D4CA-3BFD-D240-11AE0A50DE8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lIns="0" tIns="0" rIns="0" bIns="0">
            <a:normAutofit/>
          </a:bodyPr>
          <a:lstStyle/>
          <a:p>
            <a:fld id="{C8A1BA17-5FCD-E84E-BA65-AF5582366495}" type="datetime4">
              <a:rPr lang="en-GB" smtClean="0"/>
              <a:t>22 May 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3448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A5DCBC-D7F7-8B50-AFE7-C618D183F8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0382B3A-EB05-F3DF-CFA1-B5353CBBE6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/>
              <a:t> TrustFlight Ltd. All rights reserved. </a:t>
            </a:r>
            <a:endParaRPr lang="en-US" dirty="0"/>
          </a:p>
        </p:txBody>
      </p:sp>
      <p:pic>
        <p:nvPicPr>
          <p:cNvPr id="6" name="Picture 5" descr="A helicopter with a propeller&#10;&#10;Description automatically generated">
            <a:extLst>
              <a:ext uri="{FF2B5EF4-FFF2-40B4-BE49-F238E27FC236}">
                <a16:creationId xmlns:a16="http://schemas.microsoft.com/office/drawing/2014/main" id="{CDE660C7-0AA5-CDC3-65E0-4E54E45FF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428508">
            <a:off x="5535667" y="4502868"/>
            <a:ext cx="3239570" cy="965508"/>
          </a:xfrm>
          <a:prstGeom prst="rect">
            <a:avLst/>
          </a:prstGeom>
          <a:effectLst>
            <a:reflection blurRad="6350" stA="15000" endPos="63000" dist="227611" dir="5400000" sy="-100000" algn="bl" rotWithShape="0"/>
          </a:effectLst>
        </p:spPr>
      </p:pic>
      <p:pic>
        <p:nvPicPr>
          <p:cNvPr id="7" name="Picture 6" descr="A close-up of a plane&#10;&#10;Description automatically generated">
            <a:extLst>
              <a:ext uri="{FF2B5EF4-FFF2-40B4-BE49-F238E27FC236}">
                <a16:creationId xmlns:a16="http://schemas.microsoft.com/office/drawing/2014/main" id="{05746D87-88AB-3CDD-AB45-72641775C6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46488">
            <a:off x="6598130" y="2078475"/>
            <a:ext cx="4831589" cy="1606517"/>
          </a:xfrm>
          <a:prstGeom prst="rect">
            <a:avLst/>
          </a:prstGeom>
        </p:spPr>
      </p:pic>
      <p:pic>
        <p:nvPicPr>
          <p:cNvPr id="8" name="Picture 7" descr="A blue and white airplane&#10;&#10;Description automatically generated">
            <a:extLst>
              <a:ext uri="{FF2B5EF4-FFF2-40B4-BE49-F238E27FC236}">
                <a16:creationId xmlns:a16="http://schemas.microsoft.com/office/drawing/2014/main" id="{FE2B91CB-2B3D-F1F4-E46F-073912D962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212173">
            <a:off x="5166270" y="633486"/>
            <a:ext cx="3505063" cy="112839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499761D1-0CEA-C763-534E-5778B84779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829399"/>
            <a:ext cx="9462670" cy="553998"/>
          </a:xfrm>
        </p:spPr>
        <p:txBody>
          <a:bodyPr/>
          <a:lstStyle/>
          <a:p>
            <a:r>
              <a:rPr lang="en-US" sz="4000" dirty="0"/>
              <a:t>Agenda</a:t>
            </a:r>
          </a:p>
        </p:txBody>
      </p:sp>
      <p:sp>
        <p:nvSpPr>
          <p:cNvPr id="10" name="Google Shape;110;p16">
            <a:extLst>
              <a:ext uri="{FF2B5EF4-FFF2-40B4-BE49-F238E27FC236}">
                <a16:creationId xmlns:a16="http://schemas.microsoft.com/office/drawing/2014/main" id="{A5B1C390-9E63-6667-A4ED-AE69B1C49F6F}"/>
              </a:ext>
            </a:extLst>
          </p:cNvPr>
          <p:cNvSpPr/>
          <p:nvPr/>
        </p:nvSpPr>
        <p:spPr>
          <a:xfrm>
            <a:off x="-351034" y="2120862"/>
            <a:ext cx="5212234" cy="666459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F7FF"/>
              </a:gs>
              <a:gs pos="100000">
                <a:srgbClr val="FFFFFF"/>
              </a:gs>
            </a:gsLst>
            <a:lin ang="13500000" scaled="0"/>
          </a:gra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92000" tIns="91425" rIns="91425" bIns="91425" anchor="ctr" anchorCtr="0">
            <a:noAutofit/>
          </a:bodyPr>
          <a:lstStyle/>
          <a:p>
            <a:pPr>
              <a:buClr>
                <a:srgbClr val="1E5BB5"/>
              </a:buClr>
            </a:pPr>
            <a:r>
              <a:rPr lang="en-GB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  <a:sym typeface="Open Sans"/>
              </a:rPr>
              <a:t>Item 1</a:t>
            </a:r>
          </a:p>
        </p:txBody>
      </p:sp>
      <p:sp>
        <p:nvSpPr>
          <p:cNvPr id="11" name="Google Shape;110;p16">
            <a:extLst>
              <a:ext uri="{FF2B5EF4-FFF2-40B4-BE49-F238E27FC236}">
                <a16:creationId xmlns:a16="http://schemas.microsoft.com/office/drawing/2014/main" id="{7B392FFF-CE04-6F22-9868-A2E05725993E}"/>
              </a:ext>
            </a:extLst>
          </p:cNvPr>
          <p:cNvSpPr/>
          <p:nvPr/>
        </p:nvSpPr>
        <p:spPr>
          <a:xfrm>
            <a:off x="-351034" y="2869008"/>
            <a:ext cx="5212234" cy="666459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F7FF"/>
              </a:gs>
              <a:gs pos="100000">
                <a:srgbClr val="FFFFFF"/>
              </a:gs>
            </a:gsLst>
            <a:lin ang="13500000" scaled="0"/>
          </a:gra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92000" tIns="91425" rIns="91425" bIns="91425" anchor="ctr" anchorCtr="0">
            <a:noAutofit/>
          </a:bodyPr>
          <a:lstStyle/>
          <a:p>
            <a:pPr>
              <a:buClr>
                <a:srgbClr val="1E5BB5"/>
              </a:buClr>
            </a:pPr>
            <a:r>
              <a:rPr lang="en-GB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  <a:sym typeface="Open Sans"/>
              </a:rPr>
              <a:t>Item 2</a:t>
            </a:r>
          </a:p>
        </p:txBody>
      </p:sp>
      <p:sp>
        <p:nvSpPr>
          <p:cNvPr id="12" name="Google Shape;110;p16">
            <a:extLst>
              <a:ext uri="{FF2B5EF4-FFF2-40B4-BE49-F238E27FC236}">
                <a16:creationId xmlns:a16="http://schemas.microsoft.com/office/drawing/2014/main" id="{898D6E48-4054-B90C-D21D-B19513906402}"/>
              </a:ext>
            </a:extLst>
          </p:cNvPr>
          <p:cNvSpPr/>
          <p:nvPr/>
        </p:nvSpPr>
        <p:spPr>
          <a:xfrm>
            <a:off x="-351034" y="3617153"/>
            <a:ext cx="5212234" cy="666459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F7FF"/>
              </a:gs>
              <a:gs pos="100000">
                <a:srgbClr val="FFFFFF"/>
              </a:gs>
            </a:gsLst>
            <a:lin ang="13500000" scaled="0"/>
          </a:gra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92000" tIns="91425" rIns="91425" bIns="91425" anchor="ctr" anchorCtr="0">
            <a:noAutofit/>
          </a:bodyPr>
          <a:lstStyle/>
          <a:p>
            <a:pPr>
              <a:buClr>
                <a:srgbClr val="1E5BB5"/>
              </a:buClr>
            </a:pPr>
            <a:r>
              <a:rPr lang="en-GB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  <a:sym typeface="Open Sans"/>
              </a:rPr>
              <a:t>Item 3</a:t>
            </a:r>
          </a:p>
        </p:txBody>
      </p:sp>
      <p:sp>
        <p:nvSpPr>
          <p:cNvPr id="13" name="Google Shape;110;p16">
            <a:extLst>
              <a:ext uri="{FF2B5EF4-FFF2-40B4-BE49-F238E27FC236}">
                <a16:creationId xmlns:a16="http://schemas.microsoft.com/office/drawing/2014/main" id="{956B4C66-97D5-FE92-971B-27FAA394C287}"/>
              </a:ext>
            </a:extLst>
          </p:cNvPr>
          <p:cNvSpPr/>
          <p:nvPr/>
        </p:nvSpPr>
        <p:spPr>
          <a:xfrm>
            <a:off x="-351034" y="4365299"/>
            <a:ext cx="5212234" cy="666459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F7FF"/>
              </a:gs>
              <a:gs pos="100000">
                <a:srgbClr val="FFFFFF"/>
              </a:gs>
            </a:gsLst>
            <a:lin ang="13500000" scaled="0"/>
          </a:gra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92000" tIns="91425" rIns="91425" bIns="91425" anchor="ctr" anchorCtr="0">
            <a:noAutofit/>
          </a:bodyPr>
          <a:lstStyle/>
          <a:p>
            <a:pPr>
              <a:buClr>
                <a:srgbClr val="1E5BB5"/>
              </a:buClr>
            </a:pPr>
            <a:r>
              <a:rPr lang="en-GB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  <a:sym typeface="Open Sans"/>
              </a:rPr>
              <a:t>Item 4</a:t>
            </a:r>
          </a:p>
        </p:txBody>
      </p:sp>
      <p:sp>
        <p:nvSpPr>
          <p:cNvPr id="14" name="Google Shape;110;p16">
            <a:extLst>
              <a:ext uri="{FF2B5EF4-FFF2-40B4-BE49-F238E27FC236}">
                <a16:creationId xmlns:a16="http://schemas.microsoft.com/office/drawing/2014/main" id="{3F0E9F40-EF00-9DC1-3A06-95F66587E57C}"/>
              </a:ext>
            </a:extLst>
          </p:cNvPr>
          <p:cNvSpPr/>
          <p:nvPr/>
        </p:nvSpPr>
        <p:spPr>
          <a:xfrm>
            <a:off x="-351034" y="5113444"/>
            <a:ext cx="5212234" cy="666459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F2F7FF"/>
              </a:gs>
              <a:gs pos="100000">
                <a:srgbClr val="FFFFFF"/>
              </a:gs>
            </a:gsLst>
            <a:lin ang="13500000" scaled="0"/>
          </a:gra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92000" tIns="91425" rIns="91425" bIns="91425" anchor="ctr" anchorCtr="0">
            <a:noAutofit/>
          </a:bodyPr>
          <a:lstStyle/>
          <a:p>
            <a:pPr>
              <a:buClr>
                <a:srgbClr val="1E5BB5"/>
              </a:buClr>
            </a:pPr>
            <a:r>
              <a:rPr lang="en-GB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  <a:sym typeface="Open Sans"/>
              </a:rPr>
              <a:t>Item 5</a:t>
            </a:r>
          </a:p>
        </p:txBody>
      </p:sp>
    </p:spTree>
    <p:extLst>
      <p:ext uri="{BB962C8B-B14F-4D97-AF65-F5344CB8AC3E}">
        <p14:creationId xmlns:p14="http://schemas.microsoft.com/office/powerpoint/2010/main" val="16843208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41E22-4416-A494-EF9C-ECE7F9361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1" y="2875002"/>
            <a:ext cx="8331626" cy="553998"/>
          </a:xfrm>
        </p:spPr>
        <p:txBody>
          <a:bodyPr/>
          <a:lstStyle/>
          <a:p>
            <a:r>
              <a:rPr lang="en-US" sz="4000" dirty="0"/>
              <a:t>Section Break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F385A-EDA9-765B-DCFE-F86BCA14F7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3B3D7ED2-BB62-C756-333E-8AFB5FFF1C43}"/>
              </a:ext>
            </a:extLst>
          </p:cNvPr>
          <p:cNvSpPr txBox="1">
            <a:spLocks/>
          </p:cNvSpPr>
          <p:nvPr/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914355" rtl="0" eaLnBrk="1" latinLnBrk="0" hangingPunct="1">
              <a:defRPr sz="1000" b="0" i="0" kern="120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  <a:lvl2pPr marL="457177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5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886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063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240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417" algn="l" defTabSz="914355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solidFill>
                  <a:srgbClr val="CFE2F3"/>
                </a:solidFill>
              </a:rPr>
              <a:t>©</a:t>
            </a:r>
            <a:fld id="{3FEB6F09-2C38-294C-994A-AB349969DE87}" type="datetimeyyyy">
              <a:rPr lang="en-GB" smtClean="0">
                <a:solidFill>
                  <a:srgbClr val="CFE2F3"/>
                </a:solidFill>
              </a:rPr>
              <a:pPr/>
              <a:t>2026</a:t>
            </a:fld>
            <a:r>
              <a:rPr lang="en-US">
                <a:solidFill>
                  <a:srgbClr val="CFE2F3"/>
                </a:solidFill>
              </a:rPr>
              <a:t> TrustFlight Ltd. All rights reserved. </a:t>
            </a:r>
            <a:endParaRPr lang="en-US" dirty="0">
              <a:solidFill>
                <a:srgbClr val="CFE2F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06495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66096B-8C46-3BA2-D97C-4E2EE03824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5C10E2-09F7-A408-DABC-D88E6FD3C2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TrustFlight Ltd. All rights reserved. 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44940188-9A3A-52A9-CA08-A8EAC059D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/>
          <a:lstStyle/>
          <a:p>
            <a:r>
              <a:rPr lang="en-US" sz="4000" dirty="0"/>
              <a:t>Slide Title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2D7855-27A0-05F0-C6A3-FAE31F47933A}"/>
              </a:ext>
            </a:extLst>
          </p:cNvPr>
          <p:cNvSpPr txBox="1"/>
          <p:nvPr/>
        </p:nvSpPr>
        <p:spPr>
          <a:xfrm>
            <a:off x="546099" y="1376160"/>
            <a:ext cx="9396187" cy="307777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spAutoFit/>
          </a:bodyPr>
          <a:lstStyle/>
          <a:p>
            <a:pPr algn="l"/>
            <a:r>
              <a:rPr lang="en-US" sz="2000" dirty="0">
                <a:solidFill>
                  <a:srgbClr val="479FF8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Slide subtitle</a:t>
            </a:r>
          </a:p>
        </p:txBody>
      </p:sp>
    </p:spTree>
    <p:extLst>
      <p:ext uri="{BB962C8B-B14F-4D97-AF65-F5344CB8AC3E}">
        <p14:creationId xmlns:p14="http://schemas.microsoft.com/office/powerpoint/2010/main" val="1296111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166096B-8C46-3BA2-D97C-4E2EE03824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5C10E2-09F7-A408-DABC-D88E6FD3C2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TrustFlight Ltd. All rights reserved. </a:t>
            </a:r>
          </a:p>
        </p:txBody>
      </p:sp>
      <p:sp>
        <p:nvSpPr>
          <p:cNvPr id="10" name="Title 7">
            <a:extLst>
              <a:ext uri="{FF2B5EF4-FFF2-40B4-BE49-F238E27FC236}">
                <a16:creationId xmlns:a16="http://schemas.microsoft.com/office/drawing/2014/main" id="{06E2CBAA-657A-EF27-95BC-D5E773961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5310467" cy="553998"/>
          </a:xfrm>
        </p:spPr>
        <p:txBody>
          <a:bodyPr/>
          <a:lstStyle/>
          <a:p>
            <a:r>
              <a:rPr lang="en-US" sz="4000" dirty="0"/>
              <a:t>Slide Title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3D4EC7-BDE8-0754-7433-BE79F272B7F4}"/>
              </a:ext>
            </a:extLst>
          </p:cNvPr>
          <p:cNvSpPr txBox="1"/>
          <p:nvPr/>
        </p:nvSpPr>
        <p:spPr>
          <a:xfrm>
            <a:off x="546099" y="1376160"/>
            <a:ext cx="5273157" cy="307777"/>
          </a:xfrm>
          <a:prstGeom prst="rect">
            <a:avLst/>
          </a:prstGeom>
          <a:noFill/>
        </p:spPr>
        <p:txBody>
          <a:bodyPr vertOverflow="overflow" vert="horz" wrap="square" lIns="0" tIns="0" rIns="0" bIns="0" rtlCol="0" anchor="t">
            <a:spAutoFit/>
          </a:bodyPr>
          <a:lstStyle/>
          <a:p>
            <a:pPr algn="l"/>
            <a:r>
              <a:rPr lang="en-US" sz="2000" dirty="0">
                <a:solidFill>
                  <a:srgbClr val="479FF8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Slide subtitle</a:t>
            </a:r>
          </a:p>
        </p:txBody>
      </p:sp>
    </p:spTree>
    <p:extLst>
      <p:ext uri="{BB962C8B-B14F-4D97-AF65-F5344CB8AC3E}">
        <p14:creationId xmlns:p14="http://schemas.microsoft.com/office/powerpoint/2010/main" val="3100529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10306"/>
            </a:gs>
            <a:gs pos="100000">
              <a:srgbClr val="031022"/>
            </a:gs>
          </a:gsLst>
          <a:lin ang="3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5CB51-C492-0CF3-B897-F182A96F8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3887"/>
            <a:ext cx="9462670" cy="553998"/>
          </a:xfrm>
        </p:spPr>
        <p:txBody>
          <a:bodyPr/>
          <a:lstStyle/>
          <a:p>
            <a:r>
              <a:rPr lang="en-US" sz="4000" dirty="0">
                <a:solidFill>
                  <a:schemeClr val="bg1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Slide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A66E9-8931-42A9-646A-62CD922C3D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1098A5-FDA6-218B-8FDA-301521600D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</p:spTree>
    <p:extLst>
      <p:ext uri="{BB962C8B-B14F-4D97-AF65-F5344CB8AC3E}">
        <p14:creationId xmlns:p14="http://schemas.microsoft.com/office/powerpoint/2010/main" val="2701429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2FB2-D27B-8EA1-E477-92FB93D59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774000"/>
            <a:ext cx="9462670" cy="553998"/>
          </a:xfrm>
        </p:spPr>
        <p:txBody>
          <a:bodyPr/>
          <a:lstStyle/>
          <a:p>
            <a:r>
              <a:rPr lang="en-US" sz="4000" dirty="0"/>
              <a:t>Slide 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562A10-B3FE-CCD6-3B68-053CD49D04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1B377F6A-2966-294D-95D7-FBB58FDBE7CB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7A6A3014-D139-ED15-CA4C-45DFB26D1B85}"/>
              </a:ext>
            </a:extLst>
          </p:cNvPr>
          <p:cNvSpPr txBox="1">
            <a:spLocks/>
          </p:cNvSpPr>
          <p:nvPr/>
        </p:nvSpPr>
        <p:spPr>
          <a:xfrm>
            <a:off x="540000" y="1382429"/>
            <a:ext cx="6905829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228589" indent="-228589" algn="l" defTabSz="914355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bg1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1pPr>
            <a:lvl2pPr marL="685766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2pPr>
            <a:lvl3pPr marL="1142943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3pPr>
            <a:lvl4pPr marL="1600120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4pPr>
            <a:lvl5pPr marL="2057297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5pPr>
            <a:lvl6pPr marL="2514475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Clr>
                <a:srgbClr val="479FF8"/>
              </a:buClr>
              <a:buSzPct val="150000"/>
              <a:buNone/>
            </a:pPr>
            <a:r>
              <a:rPr lang="en-US" sz="1400" b="1" dirty="0">
                <a:solidFill>
                  <a:srgbClr val="1E5BB5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rPr>
              <a:t>Slide subtitle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CD32B7AD-73A8-00A3-C5D2-3206338E2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40000" y="6461968"/>
            <a:ext cx="3078186" cy="153888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00" b="0" i="0">
                <a:solidFill>
                  <a:srgbClr val="242D41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r>
              <a:rPr lang="en-US" dirty="0"/>
              <a:t>©</a:t>
            </a:r>
            <a:fld id="{3FEB6F09-2C38-294C-994A-AB349969DE87}" type="datetimeyyyy">
              <a:rPr lang="en-GB" smtClean="0"/>
              <a:pPr/>
              <a:t>2026</a:t>
            </a:fld>
            <a:r>
              <a:rPr lang="en-US" dirty="0"/>
              <a:t> </a:t>
            </a:r>
            <a:r>
              <a:rPr lang="en-US" dirty="0" err="1"/>
              <a:t>TrustFlight</a:t>
            </a:r>
            <a:r>
              <a:rPr lang="en-US" dirty="0"/>
              <a:t> Ltd. All rights reserved. </a:t>
            </a:r>
          </a:p>
        </p:txBody>
      </p:sp>
    </p:spTree>
    <p:extLst>
      <p:ext uri="{BB962C8B-B14F-4D97-AF65-F5344CB8AC3E}">
        <p14:creationId xmlns:p14="http://schemas.microsoft.com/office/powerpoint/2010/main" val="3379980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A17DDBC-B2FB-99C0-9B37-07D833F98018}"/>
              </a:ext>
            </a:extLst>
          </p:cNvPr>
          <p:cNvSpPr txBox="1">
            <a:spLocks/>
          </p:cNvSpPr>
          <p:nvPr/>
        </p:nvSpPr>
        <p:spPr>
          <a:xfrm>
            <a:off x="1167864" y="2304097"/>
            <a:ext cx="9354088" cy="747897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ctr" defTabSz="91435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0" i="0" kern="1200">
                <a:solidFill>
                  <a:srgbClr val="E0E8F7"/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algn="l"/>
            <a:r>
              <a:rPr lang="en-US"/>
              <a:t>Thank You!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3160FDF-6C19-F1A5-A727-EA339F0766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72617" y="3977042"/>
            <a:ext cx="2682064" cy="450009"/>
          </a:xfrm>
          <a:prstGeom prst="rect">
            <a:avLst/>
          </a:prstGeom>
        </p:spPr>
      </p:pic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29519188-0C7D-3726-B7FE-3F8C2C5B80F7}"/>
              </a:ext>
            </a:extLst>
          </p:cNvPr>
          <p:cNvSpPr txBox="1">
            <a:spLocks/>
          </p:cNvSpPr>
          <p:nvPr/>
        </p:nvSpPr>
        <p:spPr>
          <a:xfrm>
            <a:off x="1167864" y="4640978"/>
            <a:ext cx="9132205" cy="1092607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lvl1pPr marL="228589" indent="-228589" algn="l" defTabSz="914355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bg1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1pPr>
            <a:lvl2pPr marL="685766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2pPr>
            <a:lvl3pPr marL="1142943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3pPr>
            <a:lvl4pPr marL="1600120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4pPr>
            <a:lvl5pPr marL="2057297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1E5BB5"/>
              </a:buClr>
              <a:buFont typeface="Arial" panose="020B0604020202020204" pitchFamily="34" charset="0"/>
              <a:buChar char="•"/>
              <a:defRPr sz="1400" b="0" i="0" kern="1200">
                <a:solidFill>
                  <a:srgbClr val="E0E8F7"/>
                </a:solidFill>
                <a:latin typeface="Open Sans Light" panose="020B0606030504020204" pitchFamily="34" charset="0"/>
                <a:ea typeface="Open Sans Light" panose="020B0606030504020204" pitchFamily="34" charset="0"/>
                <a:cs typeface="Open Sans Light" panose="020B0606030504020204" pitchFamily="34" charset="0"/>
              </a:defRPr>
            </a:lvl5pPr>
            <a:lvl6pPr marL="2514475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5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479FF8"/>
              </a:buClr>
              <a:buSzPct val="15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1" u="none" strike="noStrike" kern="1200" cap="none" spc="0" normalizeH="0" baseline="0" noProof="0" dirty="0">
                <a:ln>
                  <a:noFill/>
                </a:ln>
                <a:solidFill>
                  <a:srgbClr val="CFE2F3"/>
                </a:solidFill>
                <a:effectLst/>
                <a:uLnTx/>
                <a:uFillTx/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TrustFlight is the Aerospace Safety Intelligence Platform, integrating safety and security technology, training and consulting, and crisis management and response into a single connected ecosystem.</a:t>
            </a:r>
          </a:p>
          <a:p>
            <a:pPr marL="0" marR="0" lvl="0" indent="0" algn="l" defTabSz="91435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479FF8"/>
              </a:buClr>
              <a:buSzPct val="150000"/>
              <a:buFont typeface="Arial" panose="020B0604020202020204" pitchFamily="34" charset="0"/>
              <a:buNone/>
              <a:tabLst/>
              <a:defRPr/>
            </a:pPr>
            <a:r>
              <a:rPr kumimoji="0" lang="en-US" sz="1100" u="none" strike="noStrike" kern="1200" cap="none" spc="0" normalizeH="0" baseline="0" noProof="0" dirty="0">
                <a:ln>
                  <a:noFill/>
                </a:ln>
                <a:solidFill>
                  <a:srgbClr val="CFE2F3"/>
                </a:solidFill>
                <a:effectLst/>
                <a:uLnTx/>
                <a:uFillTx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Serving more than 1,600 </a:t>
            </a:r>
            <a:r>
              <a:rPr kumimoji="0" lang="en-US" sz="1100" u="none" strike="noStrike" kern="1200" cap="none" spc="0" normalizeH="0" baseline="0" noProof="0" dirty="0" err="1">
                <a:ln>
                  <a:noFill/>
                </a:ln>
                <a:solidFill>
                  <a:srgbClr val="CFE2F3"/>
                </a:solidFill>
                <a:effectLst/>
                <a:uLnTx/>
                <a:uFillTx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organisations</a:t>
            </a:r>
            <a:r>
              <a:rPr kumimoji="0" lang="en-US" sz="1100" u="none" strike="noStrike" kern="1200" cap="none" spc="0" normalizeH="0" baseline="0" noProof="0" dirty="0">
                <a:ln>
                  <a:noFill/>
                </a:ln>
                <a:solidFill>
                  <a:srgbClr val="CFE2F3"/>
                </a:solidFill>
                <a:effectLst/>
                <a:uLnTx/>
                <a:uFillTx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 in 120 countries, TrustFlight delivers operational intelligence and the expertise to act on it. The platform combines SaaS workflow automation, AI-driven regulatory intelligence, and 24/7 crisis response to support airports, operators, MROs, OEMs, and regulators. TrustFlight helps aviation </a:t>
            </a:r>
            <a:r>
              <a:rPr kumimoji="0" lang="en-US" sz="1100" u="none" strike="noStrike" kern="1200" cap="none" spc="0" normalizeH="0" baseline="0" noProof="0" dirty="0" err="1">
                <a:ln>
                  <a:noFill/>
                </a:ln>
                <a:solidFill>
                  <a:srgbClr val="CFE2F3"/>
                </a:solidFill>
                <a:effectLst/>
                <a:uLnTx/>
                <a:uFillTx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organisations</a:t>
            </a:r>
            <a:r>
              <a:rPr kumimoji="0" lang="en-US" sz="1100" u="none" strike="noStrike" kern="1200" cap="none" spc="0" normalizeH="0" baseline="0" noProof="0" dirty="0">
                <a:ln>
                  <a:noFill/>
                </a:ln>
                <a:solidFill>
                  <a:srgbClr val="CFE2F3"/>
                </a:solidFill>
                <a:effectLst/>
                <a:uLnTx/>
                <a:uFillTx/>
                <a:latin typeface="Open Sans Light" pitchFamily="2" charset="0"/>
                <a:ea typeface="Open Sans Light" pitchFamily="2" charset="0"/>
                <a:cs typeface="Open Sans Light" pitchFamily="2" charset="0"/>
              </a:rPr>
              <a:t> close critical gaps between disconnected tools and providers, where risk can accumulate. To learn more, please visit our website.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AC5DB8F-AA3F-928F-E496-2AE80C8D6667}"/>
              </a:ext>
            </a:extLst>
          </p:cNvPr>
          <p:cNvGrpSpPr/>
          <p:nvPr/>
        </p:nvGrpSpPr>
        <p:grpSpPr>
          <a:xfrm>
            <a:off x="1167864" y="5944243"/>
            <a:ext cx="8218241" cy="470197"/>
            <a:chOff x="1167864" y="5797775"/>
            <a:chExt cx="8218241" cy="470197"/>
          </a:xfrm>
        </p:grpSpPr>
        <p:sp>
          <p:nvSpPr>
            <p:cNvPr id="15" name="Rounded Rectangle 14">
              <a:hlinkClick r:id="rId3"/>
              <a:extLst>
                <a:ext uri="{FF2B5EF4-FFF2-40B4-BE49-F238E27FC236}">
                  <a16:creationId xmlns:a16="http://schemas.microsoft.com/office/drawing/2014/main" id="{51A09357-9F64-4603-5B9A-1E1DB8F5DA50}"/>
                </a:ext>
              </a:extLst>
            </p:cNvPr>
            <p:cNvSpPr/>
            <p:nvPr/>
          </p:nvSpPr>
          <p:spPr>
            <a:xfrm>
              <a:off x="1167864" y="5797775"/>
              <a:ext cx="2478410" cy="468923"/>
            </a:xfrm>
            <a:prstGeom prst="roundRect">
              <a:avLst>
                <a:gd name="adj" fmla="val 50000"/>
              </a:avLst>
            </a:prstGeom>
            <a:solidFill>
              <a:srgbClr val="083976">
                <a:alpha val="25000"/>
              </a:srgbClr>
            </a:solidFill>
            <a:ln w="6350">
              <a:solidFill>
                <a:srgbClr val="00D5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 err="1">
                  <a:solidFill>
                    <a:srgbClr val="00D5FF"/>
                  </a:solidFill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sales@trustflight.com</a:t>
              </a:r>
              <a:endParaRPr lang="en-US" sz="1400" b="1" dirty="0">
                <a:solidFill>
                  <a:srgbClr val="00D5FF"/>
                </a:solidFill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  <p:sp>
          <p:nvSpPr>
            <p:cNvPr id="16" name="Rounded Rectangle 15">
              <a:hlinkClick r:id="rId4"/>
              <a:extLst>
                <a:ext uri="{FF2B5EF4-FFF2-40B4-BE49-F238E27FC236}">
                  <a16:creationId xmlns:a16="http://schemas.microsoft.com/office/drawing/2014/main" id="{B95A95BD-EC0B-E20A-AB3B-CFE394F688DD}"/>
                </a:ext>
              </a:extLst>
            </p:cNvPr>
            <p:cNvSpPr/>
            <p:nvPr/>
          </p:nvSpPr>
          <p:spPr>
            <a:xfrm>
              <a:off x="3814362" y="5797775"/>
              <a:ext cx="2030077" cy="468923"/>
            </a:xfrm>
            <a:prstGeom prst="roundRect">
              <a:avLst>
                <a:gd name="adj" fmla="val 50000"/>
              </a:avLst>
            </a:prstGeom>
            <a:solidFill>
              <a:srgbClr val="083976">
                <a:alpha val="25000"/>
              </a:srgbClr>
            </a:solidFill>
            <a:ln w="6350">
              <a:solidFill>
                <a:srgbClr val="00D5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 err="1"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trustflight.com</a:t>
              </a:r>
              <a:endParaRPr lang="en-US" sz="1400" b="1" dirty="0">
                <a:latin typeface="Open Sans SemiBold" pitchFamily="2" charset="0"/>
                <a:ea typeface="Open Sans SemiBold" pitchFamily="2" charset="0"/>
                <a:cs typeface="Open Sans SemiBold" pitchFamily="2" charset="0"/>
              </a:endParaRPr>
            </a:p>
          </p:txBody>
        </p: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AD418364-C0A7-69A2-13F9-7FC005B03B7D}"/>
                </a:ext>
              </a:extLst>
            </p:cNvPr>
            <p:cNvSpPr/>
            <p:nvPr/>
          </p:nvSpPr>
          <p:spPr>
            <a:xfrm>
              <a:off x="6012527" y="5797775"/>
              <a:ext cx="2478410" cy="468923"/>
            </a:xfrm>
            <a:prstGeom prst="roundRect">
              <a:avLst>
                <a:gd name="adj" fmla="val 50000"/>
              </a:avLst>
            </a:prstGeom>
            <a:solidFill>
              <a:srgbClr val="083976">
                <a:alpha val="25000"/>
              </a:srgbClr>
            </a:solidFill>
            <a:ln w="6350">
              <a:solidFill>
                <a:srgbClr val="00D5F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b="1" dirty="0">
                  <a:solidFill>
                    <a:srgbClr val="00D5FF"/>
                  </a:solidFill>
                  <a:latin typeface="Open Sans SemiBold" pitchFamily="2" charset="0"/>
                  <a:ea typeface="Open Sans SemiBold" pitchFamily="2" charset="0"/>
                  <a:cs typeface="Open Sans SemiBold" pitchFamily="2" charset="0"/>
                </a:rPr>
                <a:t>+44 (0) 330 229 0219</a:t>
              </a: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A16970B-3CE6-BEA5-A533-0C72B1944113}"/>
                </a:ext>
              </a:extLst>
            </p:cNvPr>
            <p:cNvGrpSpPr/>
            <p:nvPr/>
          </p:nvGrpSpPr>
          <p:grpSpPr>
            <a:xfrm>
              <a:off x="8659025" y="5799049"/>
              <a:ext cx="727080" cy="468923"/>
              <a:chOff x="8791183" y="5834900"/>
              <a:chExt cx="727080" cy="468923"/>
            </a:xfrm>
          </p:grpSpPr>
          <p:sp>
            <p:nvSpPr>
              <p:cNvPr id="19" name="Rounded Rectangle 18">
                <a:hlinkClick r:id="rId5"/>
                <a:extLst>
                  <a:ext uri="{FF2B5EF4-FFF2-40B4-BE49-F238E27FC236}">
                    <a16:creationId xmlns:a16="http://schemas.microsoft.com/office/drawing/2014/main" id="{B9074B3A-9AAB-4B1D-B148-E475D5A0D4D6}"/>
                  </a:ext>
                </a:extLst>
              </p:cNvPr>
              <p:cNvSpPr/>
              <p:nvPr/>
            </p:nvSpPr>
            <p:spPr>
              <a:xfrm>
                <a:off x="8791183" y="5834900"/>
                <a:ext cx="727080" cy="468923"/>
              </a:xfrm>
              <a:prstGeom prst="roundRect">
                <a:avLst>
                  <a:gd name="adj" fmla="val 50000"/>
                </a:avLst>
              </a:prstGeom>
              <a:solidFill>
                <a:srgbClr val="083976">
                  <a:alpha val="25000"/>
                </a:srgbClr>
              </a:solidFill>
              <a:ln w="6350">
                <a:solidFill>
                  <a:srgbClr val="00D5F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b="1" dirty="0">
                  <a:latin typeface="Open Sans SemiBold" pitchFamily="2" charset="0"/>
                  <a:ea typeface="Open Sans SemiBold" pitchFamily="2" charset="0"/>
                  <a:cs typeface="Open Sans SemiBold" pitchFamily="2" charset="0"/>
                </a:endParaRPr>
              </a:p>
            </p:txBody>
          </p:sp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C2E7F44C-6C6C-5141-0519-8EF305BFEF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047896" y="5961260"/>
                <a:ext cx="213653" cy="213653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19104361"/>
      </p:ext>
    </p:extLst>
  </p:cSld>
  <p:clrMapOvr>
    <a:masterClrMapping/>
  </p:clrMapOvr>
</p:sld>
</file>

<file path=ppt/theme/theme1.xml><?xml version="1.0" encoding="utf-8"?>
<a:theme xmlns:a="http://schemas.openxmlformats.org/drawingml/2006/main" name="Dar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Master Presentation Template v2.1" id="{2FBCECD7-838F-B84F-9CC9-2ABC1C915E3A}" vid="{741AF9E2-8FDF-DB4C-B80C-59F02AB6026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28ECDB296534D4A9769597AD82280A0" ma:contentTypeVersion="13" ma:contentTypeDescription="Create a new document." ma:contentTypeScope="" ma:versionID="e87e6628bbf81cd255d30c48b4445ae1">
  <xsd:schema xmlns:xsd="http://www.w3.org/2001/XMLSchema" xmlns:xs="http://www.w3.org/2001/XMLSchema" xmlns:p="http://schemas.microsoft.com/office/2006/metadata/properties" xmlns:ns2="786f6ea3-4ea6-437c-a297-c135d4f2e74c" xmlns:ns3="f61f66a0-0880-4c0b-b123-6e5c0c961f27" targetNamespace="http://schemas.microsoft.com/office/2006/metadata/properties" ma:root="true" ma:fieldsID="213364783f13fe8fce2791cc90fb8a52" ns2:_="" ns3:_="">
    <xsd:import namespace="786f6ea3-4ea6-437c-a297-c135d4f2e74c"/>
    <xsd:import namespace="f61f66a0-0880-4c0b-b123-6e5c0c961f2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6f6ea3-4ea6-437c-a297-c135d4f2e7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c64dd094-1789-492b-b53b-02698a9faf3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f66a0-0880-4c0b-b123-6e5c0c961f27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e7f59b13-3799-4695-8bbe-164d9d0a9ffd}" ma:internalName="TaxCatchAll" ma:showField="CatchAllData" ma:web="f61f66a0-0880-4c0b-b123-6e5c0c961f2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86f6ea3-4ea6-437c-a297-c135d4f2e74c">
      <Terms xmlns="http://schemas.microsoft.com/office/infopath/2007/PartnerControls"/>
    </lcf76f155ced4ddcb4097134ff3c332f>
    <TaxCatchAll xmlns="f61f66a0-0880-4c0b-b123-6e5c0c961f27" xsi:nil="true"/>
  </documentManagement>
</p:properties>
</file>

<file path=customXml/itemProps1.xml><?xml version="1.0" encoding="utf-8"?>
<ds:datastoreItem xmlns:ds="http://schemas.openxmlformats.org/officeDocument/2006/customXml" ds:itemID="{B26961EF-F0F6-44FB-A519-21391519460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86f6ea3-4ea6-437c-a297-c135d4f2e74c"/>
    <ds:schemaRef ds:uri="f61f66a0-0880-4c0b-b123-6e5c0c961f2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AB22FEE-1B56-42A8-8CFB-FF76A629D59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3EAB162-098D-4AAD-B447-7AA8F957B0D7}">
  <ds:schemaRefs>
    <ds:schemaRef ds:uri="786f6ea3-4ea6-437c-a297-c135d4f2e74c"/>
    <ds:schemaRef ds:uri="http://schemas.openxmlformats.org/package/2006/metadata/core-properties"/>
    <ds:schemaRef ds:uri="http://purl.org/dc/elements/1.1/"/>
    <ds:schemaRef ds:uri="http://schemas.microsoft.com/office/2006/documentManagement/types"/>
    <ds:schemaRef ds:uri="http://purl.org/dc/dcmitype/"/>
    <ds:schemaRef ds:uri="http://purl.org/dc/terms/"/>
    <ds:schemaRef ds:uri="http://schemas.microsoft.com/office/2006/metadata/properties"/>
    <ds:schemaRef ds:uri="http://schemas.microsoft.com/office/infopath/2007/PartnerControls"/>
    <ds:schemaRef ds:uri="f61f66a0-0880-4c0b-b123-6e5c0c961f27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19903</TotalTime>
  <Words>288</Words>
  <Application>Microsoft Macintosh PowerPoint</Application>
  <PresentationFormat>Widescreen</PresentationFormat>
  <Paragraphs>43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Arial</vt:lpstr>
      <vt:lpstr>Open Sans ExtraBold</vt:lpstr>
      <vt:lpstr>Open Sans Light</vt:lpstr>
      <vt:lpstr>Open Sans SemiBold</vt:lpstr>
      <vt:lpstr>Dark</vt:lpstr>
      <vt:lpstr>PowerPoint Presentation</vt:lpstr>
      <vt:lpstr>Agenda</vt:lpstr>
      <vt:lpstr>Section Break</vt:lpstr>
      <vt:lpstr>Slide Title</vt:lpstr>
      <vt:lpstr>Slide Title</vt:lpstr>
      <vt:lpstr>Slide Title</vt:lpstr>
      <vt:lpstr>Slide Title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Alexandru Craiu</dc:creator>
  <cp:lastModifiedBy>Alexandru Craiu</cp:lastModifiedBy>
  <cp:revision>16</cp:revision>
  <dcterms:created xsi:type="dcterms:W3CDTF">2026-01-30T14:24:02Z</dcterms:created>
  <dcterms:modified xsi:type="dcterms:W3CDTF">2026-05-22T14:27:47Z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0x010100128ECDB296534D4A9769597AD82280A0</vt:lpwstr>
  </property>
  <property fmtid="{D5CDD505-2E9C-101B-9397-08002B2CF9AE}" pid="3" name="MediaServiceImageTags">
    <vt:lpwstr/>
  </property>
</Properties>
</file>