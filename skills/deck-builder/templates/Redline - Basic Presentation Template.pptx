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4"/>
  </p:sldMasterIdLst>
  <p:notesMasterIdLst>
    <p:notesMasterId r:id="rId13"/>
  </p:notesMasterIdLst>
  <p:sldIdLst>
    <p:sldId id="352" r:id="rId5"/>
    <p:sldId id="920" r:id="rId6"/>
    <p:sldId id="316" r:id="rId7"/>
    <p:sldId id="8527" r:id="rId8"/>
    <p:sldId id="8522" r:id="rId9"/>
    <p:sldId id="304" r:id="rId10"/>
    <p:sldId id="305" r:id="rId11"/>
    <p:sldId id="612" r:id="rId12"/>
  </p:sldIdLst>
  <p:sldSz cx="12192000" cy="6858000"/>
  <p:notesSz cx="6858000" cy="9144000"/>
  <p:defaultTextStyle>
    <a:defPPr>
      <a:defRPr lang="en-US"/>
    </a:defPPr>
    <a:lvl1pPr marL="0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5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3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7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A8C306A-FC99-94D8-9CE7-41226D25945E}" name="Alexandru Craiu" initials="AC" userId="S::alex.craiu@trustflight.com::bf72ae8b-33ff-49ef-b84e-d4843c5d563a" providerId="AD"/>
  <p188:author id="{8E3BFD9B-DDDC-5055-C478-A64C6EFF7E9B}" name="Thomas Lemaire" initials="TL" userId="S::thomas.lemaire@trustflight.com::d153cba2-394e-45bc-8cdb-94eb36671916" providerId="AD"/>
  <p188:author id="{CC92DEE4-14B8-65B1-117B-53DB6FB9A0FD}" name="Reuben Mann" initials="RM" userId="S::reuben.mann@trustflight.com::fe407263-5cb5-42c8-9f36-e2998db4966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022"/>
    <a:srgbClr val="479FF8"/>
    <a:srgbClr val="00D5FF"/>
    <a:srgbClr val="083976"/>
    <a:srgbClr val="051B38"/>
    <a:srgbClr val="D90082"/>
    <a:srgbClr val="242D41"/>
    <a:srgbClr val="CFE2F3"/>
    <a:srgbClr val="1E5BB5"/>
    <a:srgbClr val="EFF8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58"/>
    <p:restoredTop sz="96296"/>
  </p:normalViewPr>
  <p:slideViewPr>
    <p:cSldViewPr snapToGrid="0">
      <p:cViewPr varScale="1">
        <p:scale>
          <a:sx n="175" d="100"/>
          <a:sy n="175" d="100"/>
        </p:scale>
        <p:origin x="8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DFF91-E63B-E948-B3A5-1D1BF1CECDF7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B95CE4-0521-0C49-933F-6556F583E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37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5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3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7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dirty="0"/>
              <a:t>1. </a:t>
            </a:r>
            <a:r>
              <a:rPr lang="en-GB" sz="1800" b="1" dirty="0">
                <a:solidFill>
                  <a:srgbClr val="FFFFFF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Scale &amp; Growth</a:t>
            </a:r>
          </a:p>
          <a:p>
            <a:pPr algn="l"/>
            <a:r>
              <a:rPr lang="en-GB" sz="1200" dirty="0">
                <a:solidFill>
                  <a:srgbClr val="E0E7F5"/>
                </a:solidFill>
                <a:latin typeface="Open Sans Light"/>
              </a:rPr>
              <a:t>Serving 10M+ passengers annually, with continued expansion placing new demands on safety governance across a multi-stakeholder environment.</a:t>
            </a:r>
          </a:p>
          <a:p>
            <a:endParaRPr lang="en-US" dirty="0"/>
          </a:p>
          <a:p>
            <a:pPr algn="l"/>
            <a:r>
              <a:rPr lang="en-US" dirty="0"/>
              <a:t>2. </a:t>
            </a:r>
            <a:r>
              <a:rPr lang="en-GB" sz="1800" b="1" dirty="0">
                <a:solidFill>
                  <a:srgbClr val="FFFFFF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Regulatory Landscape</a:t>
            </a:r>
          </a:p>
          <a:p>
            <a:pPr algn="l"/>
            <a:r>
              <a:rPr lang="en-GB" sz="1200" dirty="0">
                <a:solidFill>
                  <a:srgbClr val="E0E7F5"/>
                </a:solidFill>
                <a:latin typeface="Open Sans Light"/>
              </a:rPr>
              <a:t>CAA oversight spanning airside, landside, and terminal operations — diverse reporting requirements handled in one place.</a:t>
            </a:r>
          </a:p>
          <a:p>
            <a:endParaRPr lang="en-US" dirty="0"/>
          </a:p>
          <a:p>
            <a:pPr algn="l"/>
            <a:r>
              <a:rPr lang="en-US" dirty="0"/>
              <a:t>3. </a:t>
            </a:r>
            <a:r>
              <a:rPr lang="en-GB" sz="1800" b="1" dirty="0">
                <a:solidFill>
                  <a:srgbClr val="FFFFFF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Operational Breadth</a:t>
            </a:r>
          </a:p>
          <a:p>
            <a:pPr algn="l"/>
            <a:r>
              <a:rPr lang="en-GB" sz="1200" dirty="0">
                <a:solidFill>
                  <a:srgbClr val="E0E7F5"/>
                </a:solidFill>
                <a:latin typeface="Open Sans Light"/>
              </a:rPr>
              <a:t>Ground handling, construction, retail, and passenger services — a mix that demands configurable workflows and visibility across departments.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95CE4-0521-0C49-933F-6556F583EA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8525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95CE4-0521-0C49-933F-6556F583EA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852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">
    <p:bg>
      <p:bgPr>
        <a:gradFill>
          <a:gsLst>
            <a:gs pos="0">
              <a:srgbClr val="010306"/>
            </a:gs>
            <a:gs pos="100000">
              <a:srgbClr val="031022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black dotted surface&#10;&#10;AI-generated content may be incorrect.">
            <a:extLst>
              <a:ext uri="{FF2B5EF4-FFF2-40B4-BE49-F238E27FC236}">
                <a16:creationId xmlns:a16="http://schemas.microsoft.com/office/drawing/2014/main" id="{4DFC67AA-671B-76C7-F859-AFBE58C418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9681" y="4003049"/>
            <a:ext cx="9354088" cy="747897"/>
          </a:xfrm>
        </p:spPr>
        <p:txBody>
          <a:bodyPr/>
          <a:lstStyle>
            <a:lvl1pPr>
              <a:defRPr sz="5400">
                <a:solidFill>
                  <a:srgbClr val="E0E8F7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96B70E-0D2E-BDE9-17BD-D71B32B6E8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19681" y="4890961"/>
            <a:ext cx="5215043" cy="3323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2400">
                <a:solidFill>
                  <a:srgbClr val="479FF8"/>
                </a:solidFill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 marL="914354" indent="0">
              <a:buNone/>
              <a:defRPr>
                <a:solidFill>
                  <a:schemeClr val="bg1"/>
                </a:solidFill>
              </a:defRPr>
            </a:lvl3pPr>
            <a:lvl4pPr marL="1371531" indent="0">
              <a:buNone/>
              <a:defRPr>
                <a:solidFill>
                  <a:schemeClr val="bg1"/>
                </a:solidFill>
              </a:defRPr>
            </a:lvl4pPr>
            <a:lvl5pPr marL="182870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8CE164C6-CEA2-882D-0254-DA262B858E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67518" y="6101496"/>
            <a:ext cx="5215043" cy="1938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E0E8F7"/>
                </a:solidFill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 marL="914354" indent="0">
              <a:buNone/>
              <a:defRPr>
                <a:solidFill>
                  <a:schemeClr val="bg1"/>
                </a:solidFill>
              </a:defRPr>
            </a:lvl3pPr>
            <a:lvl4pPr marL="1371531" indent="0">
              <a:buNone/>
              <a:defRPr>
                <a:solidFill>
                  <a:schemeClr val="bg1"/>
                </a:solidFill>
              </a:defRPr>
            </a:lvl4pPr>
            <a:lvl5pPr marL="182870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fld id="{950A574D-F250-8345-BCFE-50000BC0A5B0}" type="datetime3">
              <a:rPr lang="en-GB" smtClean="0"/>
              <a:t>6 January, 2026</a:t>
            </a:fld>
            <a:endParaRPr lang="en-GB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AD1B1BC-0824-1CD9-D55F-1C5B0C88C9C9}"/>
              </a:ext>
            </a:extLst>
          </p:cNvPr>
          <p:cNvSpPr/>
          <p:nvPr userDrawn="1"/>
        </p:nvSpPr>
        <p:spPr>
          <a:xfrm>
            <a:off x="5496673" y="-1269401"/>
            <a:ext cx="8057961" cy="4914288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DE6F79-DEF1-E960-E182-31EF15B9FA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141449" y="2971800"/>
            <a:ext cx="2325905" cy="39025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AB34B72-4398-E286-7439-2CD80EE24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19681" y="2880000"/>
            <a:ext cx="2448701" cy="59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15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rk - Radial split">
    <p:bg>
      <p:bgPr>
        <a:gradFill>
          <a:gsLst>
            <a:gs pos="0">
              <a:srgbClr val="010306"/>
            </a:gs>
            <a:gs pos="100000">
              <a:srgbClr val="031022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C6A0AAC-54D3-2D1D-011D-ED65EF41023A}"/>
              </a:ext>
            </a:extLst>
          </p:cNvPr>
          <p:cNvGrpSpPr/>
          <p:nvPr userDrawn="1"/>
        </p:nvGrpSpPr>
        <p:grpSpPr>
          <a:xfrm rot="20581426">
            <a:off x="5847453" y="-1193426"/>
            <a:ext cx="9244853" cy="9244853"/>
            <a:chOff x="7566920" y="-1193426"/>
            <a:chExt cx="9244853" cy="9244853"/>
          </a:xfrm>
        </p:grpSpPr>
        <p:pic>
          <p:nvPicPr>
            <p:cNvPr id="18" name="Picture 17" descr="A blue circles on a black background&#10;&#10;AI-generated content may be incorrect.">
              <a:extLst>
                <a:ext uri="{FF2B5EF4-FFF2-40B4-BE49-F238E27FC236}">
                  <a16:creationId xmlns:a16="http://schemas.microsoft.com/office/drawing/2014/main" id="{55999312-CF81-DA5D-D70A-5E5FA9E7EE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7566920" y="-1193426"/>
              <a:ext cx="9244853" cy="9244853"/>
            </a:xfrm>
            <a:prstGeom prst="rect">
              <a:avLst/>
            </a:prstGeom>
          </p:spPr>
        </p:pic>
        <p:pic>
          <p:nvPicPr>
            <p:cNvPr id="19" name="Picture 18" descr="A blue and white airplane&#10;&#10;AI-generated content may be incorrect.">
              <a:extLst>
                <a:ext uri="{FF2B5EF4-FFF2-40B4-BE49-F238E27FC236}">
                  <a16:creationId xmlns:a16="http://schemas.microsoft.com/office/drawing/2014/main" id="{89AD0A1B-CF22-88CD-4ACF-ADA7108D18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rot="19769839">
              <a:off x="9528378" y="4474031"/>
              <a:ext cx="629917" cy="668816"/>
            </a:xfrm>
            <a:prstGeom prst="rect">
              <a:avLst/>
            </a:prstGeom>
          </p:spPr>
        </p:pic>
        <p:pic>
          <p:nvPicPr>
            <p:cNvPr id="20" name="Picture 19" descr="A blue airplane on a black background&#10;&#10;AI-generated content may be incorrect.">
              <a:extLst>
                <a:ext uri="{FF2B5EF4-FFF2-40B4-BE49-F238E27FC236}">
                  <a16:creationId xmlns:a16="http://schemas.microsoft.com/office/drawing/2014/main" id="{0638D31B-D502-5223-DA14-51B0AAB45C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 rot="2464015">
              <a:off x="10336371" y="1652053"/>
              <a:ext cx="742684" cy="911965"/>
            </a:xfrm>
            <a:prstGeom prst="rect">
              <a:avLst/>
            </a:prstGeom>
          </p:spPr>
        </p:pic>
        <p:pic>
          <p:nvPicPr>
            <p:cNvPr id="21" name="Picture 20" descr="A helicopter with a propeller&#10;&#10;AI-generated content may be incorrect.">
              <a:extLst>
                <a:ext uri="{FF2B5EF4-FFF2-40B4-BE49-F238E27FC236}">
                  <a16:creationId xmlns:a16="http://schemas.microsoft.com/office/drawing/2014/main" id="{49DA7B25-CC6E-56AA-9AE1-7246899FEC3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 rot="18616815">
              <a:off x="9868220" y="5937608"/>
              <a:ext cx="516951" cy="625055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E031189B-2588-A744-4A5B-4BF83CCF2CBC}"/>
              </a:ext>
            </a:extLst>
          </p:cNvPr>
          <p:cNvSpPr/>
          <p:nvPr userDrawn="1"/>
        </p:nvSpPr>
        <p:spPr>
          <a:xfrm>
            <a:off x="-1" y="4843849"/>
            <a:ext cx="12191999" cy="2014151"/>
          </a:xfrm>
          <a:prstGeom prst="rect">
            <a:avLst/>
          </a:prstGeom>
          <a:solidFill>
            <a:srgbClr val="EFF8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29C9826-0CE3-7C4B-D683-A1C19C6957AA}"/>
              </a:ext>
            </a:extLst>
          </p:cNvPr>
          <p:cNvSpPr/>
          <p:nvPr userDrawn="1"/>
        </p:nvSpPr>
        <p:spPr>
          <a:xfrm rot="5400000">
            <a:off x="-637538" y="701880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3887"/>
            <a:ext cx="9462670" cy="553998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rgbClr val="E0E8F7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D6288-9E17-B744-8198-AA89061B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652627"/>
            <a:ext cx="9462670" cy="118955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400">
                <a:solidFill>
                  <a:srgbClr val="E0E8F7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3B5020-2488-D66C-615B-BFB237170F7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0469880" y="552098"/>
            <a:ext cx="1167938" cy="195962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E71881E-0117-4368-8C45-D6C63E60CEFE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87129FB-B01E-6A59-497C-526AF6270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3CF3DC3-DDA2-6D1C-4DFB-7134C9E032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 dirty="0"/>
              <a:t> </a:t>
            </a:r>
            <a:r>
              <a:rPr lang="en-US" dirty="0" err="1"/>
              <a:t>TrustFlight</a:t>
            </a:r>
            <a:r>
              <a:rPr lang="en-US" dirty="0"/>
              <a:t> Ltd. All rights reserved.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19B7852-B8C1-AE58-523F-878D39D12485}"/>
              </a:ext>
            </a:extLst>
          </p:cNvPr>
          <p:cNvSpPr/>
          <p:nvPr userDrawn="1"/>
        </p:nvSpPr>
        <p:spPr>
          <a:xfrm>
            <a:off x="-376058" y="6252425"/>
            <a:ext cx="4114800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BBEE02-75EF-F4D4-AA76-B1810DDBFD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rgbClr val="00D5FF"/>
              </a:gs>
              <a:gs pos="0">
                <a:srgbClr val="083976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36DB05F-E16C-3589-E5CD-B3AD317C1DA5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5FEA383A-60F2-D824-57AE-0A2A11FD14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08631" y="553451"/>
            <a:ext cx="791137" cy="19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55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rk - Radial Split 2">
    <p:bg>
      <p:bgPr>
        <a:gradFill>
          <a:gsLst>
            <a:gs pos="0">
              <a:srgbClr val="010306"/>
            </a:gs>
            <a:gs pos="100000">
              <a:srgbClr val="031022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circles on a black background&#10;&#10;AI-generated content may be incorrect.">
            <a:extLst>
              <a:ext uri="{FF2B5EF4-FFF2-40B4-BE49-F238E27FC236}">
                <a16:creationId xmlns:a16="http://schemas.microsoft.com/office/drawing/2014/main" id="{69D14879-3FD1-B399-D134-A8B34CDC9B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rot="6452641">
            <a:off x="1473573" y="-1106715"/>
            <a:ext cx="9244853" cy="92448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031189B-2588-A744-4A5B-4BF83CCF2CBC}"/>
              </a:ext>
            </a:extLst>
          </p:cNvPr>
          <p:cNvSpPr/>
          <p:nvPr userDrawn="1"/>
        </p:nvSpPr>
        <p:spPr>
          <a:xfrm>
            <a:off x="-1" y="4843849"/>
            <a:ext cx="12191999" cy="2014151"/>
          </a:xfrm>
          <a:prstGeom prst="rect">
            <a:avLst/>
          </a:prstGeom>
          <a:solidFill>
            <a:srgbClr val="EFF8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29C9826-0CE3-7C4B-D683-A1C19C6957AA}"/>
              </a:ext>
            </a:extLst>
          </p:cNvPr>
          <p:cNvSpPr/>
          <p:nvPr userDrawn="1"/>
        </p:nvSpPr>
        <p:spPr>
          <a:xfrm rot="5400000">
            <a:off x="-637538" y="701880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3887"/>
            <a:ext cx="9462670" cy="553998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rgbClr val="E0E8F7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D6288-9E17-B744-8198-AA89061B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652627"/>
            <a:ext cx="9462670" cy="118955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400">
                <a:solidFill>
                  <a:srgbClr val="E0E8F7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3B5020-2488-D66C-615B-BFB237170F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69880" y="552098"/>
            <a:ext cx="1167938" cy="195962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E71881E-0117-4368-8C45-D6C63E60CEFE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87129FB-B01E-6A59-497C-526AF6270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BE9F6B8-96F5-EE51-43C0-29D3B5BA3FF4}"/>
              </a:ext>
            </a:extLst>
          </p:cNvPr>
          <p:cNvSpPr/>
          <p:nvPr userDrawn="1"/>
        </p:nvSpPr>
        <p:spPr>
          <a:xfrm>
            <a:off x="-376058" y="6252425"/>
            <a:ext cx="4114800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C9296EB-2AB4-4111-0075-4D54AC9386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 dirty="0"/>
              <a:t> </a:t>
            </a:r>
            <a:r>
              <a:rPr lang="en-US" dirty="0" err="1"/>
              <a:t>TrustFlight</a:t>
            </a:r>
            <a:r>
              <a:rPr lang="en-US" dirty="0"/>
              <a:t> Ltd. All rights reserved.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FA4049-60F5-491C-CC0F-1DAE70CCBAD7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rgbClr val="00D5FF"/>
              </a:gs>
              <a:gs pos="0">
                <a:srgbClr val="083976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009DF4C-2500-7EDC-9E68-9E8320593F02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DB9D05-EDDD-D322-60CA-8A6CD43DAA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108631" y="553451"/>
            <a:ext cx="791137" cy="19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24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rk - Radial Centre">
    <p:bg>
      <p:bgPr>
        <a:gradFill>
          <a:gsLst>
            <a:gs pos="0">
              <a:srgbClr val="010306"/>
            </a:gs>
            <a:gs pos="100000">
              <a:srgbClr val="031022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blue circles on a black background&#10;&#10;AI-generated content may be incorrect.">
            <a:extLst>
              <a:ext uri="{FF2B5EF4-FFF2-40B4-BE49-F238E27FC236}">
                <a16:creationId xmlns:a16="http://schemas.microsoft.com/office/drawing/2014/main" id="{55999312-CF81-DA5D-D70A-5E5FA9E7EE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rot="6452641">
            <a:off x="1473571" y="-1193426"/>
            <a:ext cx="9244853" cy="924485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56EA198-A2E3-F7E9-18A0-F2CD84A0C83F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29C9826-0CE3-7C4B-D683-A1C19C6957AA}"/>
              </a:ext>
            </a:extLst>
          </p:cNvPr>
          <p:cNvSpPr/>
          <p:nvPr userDrawn="1"/>
        </p:nvSpPr>
        <p:spPr>
          <a:xfrm rot="5400000">
            <a:off x="-637538" y="701880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3887"/>
            <a:ext cx="9462670" cy="553998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rgbClr val="E0E8F7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D6288-9E17-B744-8198-AA89061B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652627"/>
            <a:ext cx="9462670" cy="118955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400">
                <a:solidFill>
                  <a:srgbClr val="E0E8F7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3B5020-2488-D66C-615B-BFB237170F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69880" y="552098"/>
            <a:ext cx="1167938" cy="195962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06611B-F559-C2E0-D70A-FCBB3A56D9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E0E8F7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A857AFF-B595-58E1-9511-6BF025D72168}"/>
              </a:ext>
            </a:extLst>
          </p:cNvPr>
          <p:cNvSpPr/>
          <p:nvPr userDrawn="1"/>
        </p:nvSpPr>
        <p:spPr>
          <a:xfrm>
            <a:off x="-376058" y="6252425"/>
            <a:ext cx="4114800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966E1D-27CB-9CAE-BEC0-519A8246C131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CFE2F3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79A745F5-D09F-3BA7-3BF3-46D75C0E4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CFE2F3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/>
              <a:t> TrustFlight Ltd. All rights reserved. </a:t>
            </a:r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B84F321-D874-DEDA-CADA-9E4388278474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6F3D6D8B-9A8D-E68E-8B32-66D8802622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108631" y="553451"/>
            <a:ext cx="791137" cy="19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634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rk - Blank">
    <p:bg>
      <p:bgPr>
        <a:gradFill>
          <a:gsLst>
            <a:gs pos="0">
              <a:srgbClr val="010306"/>
            </a:gs>
            <a:gs pos="100000">
              <a:srgbClr val="031022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56EA198-A2E3-F7E9-18A0-F2CD84A0C83F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29C9826-0CE3-7C4B-D683-A1C19C6957AA}"/>
              </a:ext>
            </a:extLst>
          </p:cNvPr>
          <p:cNvSpPr/>
          <p:nvPr userDrawn="1"/>
        </p:nvSpPr>
        <p:spPr>
          <a:xfrm rot="5400000">
            <a:off x="-637538" y="701880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4000"/>
            <a:ext cx="9462670" cy="553998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rgbClr val="E0E8F7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D6288-9E17-B744-8198-AA89061B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652627"/>
            <a:ext cx="9462670" cy="118955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400">
                <a:solidFill>
                  <a:srgbClr val="E0E8F7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3B5020-2488-D66C-615B-BFB237170F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9880" y="552098"/>
            <a:ext cx="1167938" cy="195962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06611B-F559-C2E0-D70A-FCBB3A56D9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E0E8F7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940333D-10CE-DA32-F1DC-0F004BD0356F}"/>
              </a:ext>
            </a:extLst>
          </p:cNvPr>
          <p:cNvSpPr/>
          <p:nvPr userDrawn="1"/>
        </p:nvSpPr>
        <p:spPr>
          <a:xfrm>
            <a:off x="-376058" y="6252425"/>
            <a:ext cx="4114800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2B9C2B-7E14-89DA-DFCC-408BF1DD5672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CFE2F3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CEA4D19C-17E5-6B06-9BE1-E1F4F27DF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CFE2F3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/>
              <a:t> TrustFlight Ltd. All rights reserved. </a:t>
            </a:r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36C942-A13B-FA6F-3EFE-6D4F583678E4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7AC9D73-5479-5841-86B6-D29289FDA1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08631" y="553451"/>
            <a:ext cx="791137" cy="19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499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rk - Globe Split">
    <p:bg>
      <p:bgPr>
        <a:gradFill>
          <a:gsLst>
            <a:gs pos="0">
              <a:srgbClr val="010306"/>
            </a:gs>
            <a:gs pos="100000">
              <a:srgbClr val="031022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circles on a black background&#10;&#10;AI-generated content may be incorrect.">
            <a:extLst>
              <a:ext uri="{FF2B5EF4-FFF2-40B4-BE49-F238E27FC236}">
                <a16:creationId xmlns:a16="http://schemas.microsoft.com/office/drawing/2014/main" id="{F2F26713-7C9D-6F0B-0011-AF754F4241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rot="6452641">
            <a:off x="7584110" y="-1874744"/>
            <a:ext cx="9244853" cy="9244853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29C9826-0CE3-7C4B-D683-A1C19C6957AA}"/>
              </a:ext>
            </a:extLst>
          </p:cNvPr>
          <p:cNvSpPr/>
          <p:nvPr userDrawn="1"/>
        </p:nvSpPr>
        <p:spPr>
          <a:xfrm rot="5400000">
            <a:off x="-637538" y="701880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4000"/>
            <a:ext cx="9462670" cy="553998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rgbClr val="E0E8F7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D6288-9E17-B744-8198-AA89061B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652627"/>
            <a:ext cx="9462670" cy="118955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>
              <a:defRPr sz="1800" b="0" i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>
              <a:defRPr sz="1800" b="0" i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>
              <a:defRPr sz="1800" b="0" i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>
              <a:defRPr sz="1400">
                <a:solidFill>
                  <a:srgbClr val="E0E8F7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3B5020-2488-D66C-615B-BFB237170F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69880" y="552098"/>
            <a:ext cx="1167938" cy="1959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19207E-3F35-CD84-0CED-B1618F8C144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405782" y="944803"/>
            <a:ext cx="3572435" cy="356698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B055498-3013-8FBE-B680-30D25ED0BA42}"/>
              </a:ext>
            </a:extLst>
          </p:cNvPr>
          <p:cNvSpPr/>
          <p:nvPr userDrawn="1"/>
        </p:nvSpPr>
        <p:spPr>
          <a:xfrm>
            <a:off x="-1" y="4843849"/>
            <a:ext cx="12191999" cy="2014151"/>
          </a:xfrm>
          <a:prstGeom prst="rect">
            <a:avLst/>
          </a:prstGeom>
          <a:solidFill>
            <a:srgbClr val="EFF8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12B68EC-D0DA-54CD-18E4-4639FE2CDFDC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740AF2B-59A0-DBEC-6E84-EC7BD1EAF4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434BF88-F15B-815A-FDDB-8E9C9478C6A9}"/>
              </a:ext>
            </a:extLst>
          </p:cNvPr>
          <p:cNvSpPr/>
          <p:nvPr userDrawn="1"/>
        </p:nvSpPr>
        <p:spPr>
          <a:xfrm>
            <a:off x="-376058" y="6252425"/>
            <a:ext cx="4114800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566CDEB6-7A1D-6109-42FC-D9A1581E33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 dirty="0"/>
              <a:t> </a:t>
            </a:r>
            <a:r>
              <a:rPr lang="en-US" dirty="0" err="1"/>
              <a:t>TrustFlight</a:t>
            </a:r>
            <a:r>
              <a:rPr lang="en-US" dirty="0"/>
              <a:t> Ltd. All rights reserved.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65F3A7-827A-682A-6ECF-7FB99FB6D389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rgbClr val="00D5FF"/>
              </a:gs>
              <a:gs pos="0">
                <a:srgbClr val="083976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857FAF1-4B7E-C857-4161-DC477F5DD207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35E6914-D718-1030-56CC-957EF75FDD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08631" y="553451"/>
            <a:ext cx="791137" cy="19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290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rk - Globe">
    <p:bg>
      <p:bgPr>
        <a:gradFill>
          <a:gsLst>
            <a:gs pos="0">
              <a:srgbClr val="010306"/>
            </a:gs>
            <a:gs pos="100000">
              <a:srgbClr val="031022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circles on a black background&#10;&#10;AI-generated content may be incorrect.">
            <a:extLst>
              <a:ext uri="{FF2B5EF4-FFF2-40B4-BE49-F238E27FC236}">
                <a16:creationId xmlns:a16="http://schemas.microsoft.com/office/drawing/2014/main" id="{F2F26713-7C9D-6F0B-0011-AF754F4241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rot="6452641">
            <a:off x="7584110" y="-1874744"/>
            <a:ext cx="9244853" cy="9244853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29C9826-0CE3-7C4B-D683-A1C19C6957AA}"/>
              </a:ext>
            </a:extLst>
          </p:cNvPr>
          <p:cNvSpPr/>
          <p:nvPr userDrawn="1"/>
        </p:nvSpPr>
        <p:spPr>
          <a:xfrm rot="5400000">
            <a:off x="-637538" y="701880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4000"/>
            <a:ext cx="9462670" cy="553998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rgbClr val="E0E8F7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D6288-9E17-B744-8198-AA89061B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652627"/>
            <a:ext cx="9462670" cy="118955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400">
                <a:solidFill>
                  <a:srgbClr val="E0E8F7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3B5020-2488-D66C-615B-BFB237170F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69880" y="552098"/>
            <a:ext cx="1167938" cy="1959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19207E-3F35-CD84-0CED-B1618F8C144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405782" y="944803"/>
            <a:ext cx="3572435" cy="3566980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E0CD03D-BF27-E0C2-C3DE-16C26321AC02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71390C9-6FA6-0582-80FE-B7C9B5BEFA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E0E8F7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A199661-3BA7-E2BC-CC90-E0EB0694B282}"/>
              </a:ext>
            </a:extLst>
          </p:cNvPr>
          <p:cNvSpPr/>
          <p:nvPr userDrawn="1"/>
        </p:nvSpPr>
        <p:spPr>
          <a:xfrm>
            <a:off x="-376058" y="6252425"/>
            <a:ext cx="4114800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EB5DB8-87F8-6159-8FDF-B3D3464510ED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CFE2F3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47A178D5-C017-8731-243C-46489A1FB5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CFE2F3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/>
              <a:t> TrustFlight Ltd. All rights reserved. </a:t>
            </a:r>
            <a:endParaRPr lang="en-US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150AE72-C5C6-49D2-AE61-40EE3397A8D4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67DC1A4A-0791-DBB0-6849-4EB95615F8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08631" y="553451"/>
            <a:ext cx="791137" cy="19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35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Section Break">
    <p:bg>
      <p:bgPr>
        <a:gradFill>
          <a:gsLst>
            <a:gs pos="0">
              <a:srgbClr val="010306"/>
            </a:gs>
            <a:gs pos="100000">
              <a:srgbClr val="031022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9442DE2E-5B8F-6CE4-54C3-E6157C4753EB}"/>
              </a:ext>
            </a:extLst>
          </p:cNvPr>
          <p:cNvGrpSpPr/>
          <p:nvPr userDrawn="1"/>
        </p:nvGrpSpPr>
        <p:grpSpPr>
          <a:xfrm>
            <a:off x="5847453" y="-1193426"/>
            <a:ext cx="9244853" cy="9244853"/>
            <a:chOff x="7566920" y="-1193426"/>
            <a:chExt cx="9244853" cy="9244853"/>
          </a:xfrm>
        </p:grpSpPr>
        <p:pic>
          <p:nvPicPr>
            <p:cNvPr id="7" name="Picture 6" descr="A blue circles on a black background&#10;&#10;AI-generated content may be incorrect.">
              <a:extLst>
                <a:ext uri="{FF2B5EF4-FFF2-40B4-BE49-F238E27FC236}">
                  <a16:creationId xmlns:a16="http://schemas.microsoft.com/office/drawing/2014/main" id="{D08A3E1C-39F1-8078-A76D-1AC7E9712D0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7566920" y="-1193426"/>
              <a:ext cx="9244853" cy="9244853"/>
            </a:xfrm>
            <a:prstGeom prst="rect">
              <a:avLst/>
            </a:prstGeom>
          </p:spPr>
        </p:pic>
        <p:pic>
          <p:nvPicPr>
            <p:cNvPr id="11" name="Picture 10" descr="A blue and white airplane&#10;&#10;AI-generated content may be incorrect.">
              <a:extLst>
                <a:ext uri="{FF2B5EF4-FFF2-40B4-BE49-F238E27FC236}">
                  <a16:creationId xmlns:a16="http://schemas.microsoft.com/office/drawing/2014/main" id="{0AFF6174-8FD9-567F-5F1F-3CDA80E82E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rot="19769839">
              <a:off x="9528378" y="4474031"/>
              <a:ext cx="629917" cy="668816"/>
            </a:xfrm>
            <a:prstGeom prst="rect">
              <a:avLst/>
            </a:prstGeom>
          </p:spPr>
        </p:pic>
        <p:pic>
          <p:nvPicPr>
            <p:cNvPr id="13" name="Picture 12" descr="A blue airplane on a black background&#10;&#10;AI-generated content may be incorrect.">
              <a:extLst>
                <a:ext uri="{FF2B5EF4-FFF2-40B4-BE49-F238E27FC236}">
                  <a16:creationId xmlns:a16="http://schemas.microsoft.com/office/drawing/2014/main" id="{F51948AD-0172-CFE1-C964-0B7BEA9327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 rot="2464015">
              <a:off x="10336371" y="1652053"/>
              <a:ext cx="742684" cy="911965"/>
            </a:xfrm>
            <a:prstGeom prst="rect">
              <a:avLst/>
            </a:prstGeom>
          </p:spPr>
        </p:pic>
        <p:pic>
          <p:nvPicPr>
            <p:cNvPr id="15" name="Picture 14" descr="A helicopter with a propeller&#10;&#10;AI-generated content may be incorrect.">
              <a:extLst>
                <a:ext uri="{FF2B5EF4-FFF2-40B4-BE49-F238E27FC236}">
                  <a16:creationId xmlns:a16="http://schemas.microsoft.com/office/drawing/2014/main" id="{D2CEBE7D-CA87-089C-194E-7DEB851CBA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 rot="18616815">
              <a:off x="9868220" y="5937608"/>
              <a:ext cx="516951" cy="62505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1" y="2875002"/>
            <a:ext cx="8331626" cy="553998"/>
          </a:xfrm>
        </p:spPr>
        <p:txBody>
          <a:bodyPr/>
          <a:lstStyle>
            <a:lvl1pPr>
              <a:defRPr>
                <a:solidFill>
                  <a:srgbClr val="E0E8F7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3B5020-2488-D66C-615B-BFB237170F7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0469880" y="552098"/>
            <a:ext cx="1167938" cy="195962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2C72C0B-77D9-BCF2-79CE-2EEEB645B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E0E8F7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A235382-B2F0-543D-52FA-037B0B803308}"/>
              </a:ext>
            </a:extLst>
          </p:cNvPr>
          <p:cNvSpPr/>
          <p:nvPr userDrawn="1"/>
        </p:nvSpPr>
        <p:spPr>
          <a:xfrm rot="5400000">
            <a:off x="-637538" y="2802195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7C9A04B-12B5-AFA9-D297-C3091944C788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6ECB326-8166-1AE2-CEFB-55D4F5159F1B}"/>
              </a:ext>
            </a:extLst>
          </p:cNvPr>
          <p:cNvSpPr/>
          <p:nvPr userDrawn="1"/>
        </p:nvSpPr>
        <p:spPr>
          <a:xfrm>
            <a:off x="-376058" y="6252425"/>
            <a:ext cx="4114800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9127F0-7558-55A0-C85A-D692B3C4C67B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CFE2F3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2667696-9A43-5FB6-5308-963F3862B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CFE2F3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/>
              <a:t> TrustFlight Ltd. All rights reserved. </a:t>
            </a:r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639FC8F-4D67-DAD3-0926-E75BFDDC74F1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750A7C27-9BB4-8728-5564-5EB70A04D9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08631" y="553451"/>
            <a:ext cx="791137" cy="19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357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End">
    <p:bg>
      <p:bgPr>
        <a:gradFill>
          <a:gsLst>
            <a:gs pos="0">
              <a:srgbClr val="010306"/>
            </a:gs>
            <a:gs pos="100000">
              <a:srgbClr val="031022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black dotted surface&#10;&#10;AI-generated content may be incorrect.">
            <a:extLst>
              <a:ext uri="{FF2B5EF4-FFF2-40B4-BE49-F238E27FC236}">
                <a16:creationId xmlns:a16="http://schemas.microsoft.com/office/drawing/2014/main" id="{4DFC67AA-671B-76C7-F859-AFBE58C418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8956" y="2345582"/>
            <a:ext cx="9354088" cy="747897"/>
          </a:xfrm>
        </p:spPr>
        <p:txBody>
          <a:bodyPr/>
          <a:lstStyle>
            <a:lvl1pPr algn="ctr">
              <a:defRPr sz="5400">
                <a:solidFill>
                  <a:srgbClr val="E0E8F7"/>
                </a:solidFill>
              </a:defRPr>
            </a:lvl1pPr>
          </a:lstStyle>
          <a:p>
            <a:r>
              <a:rPr lang="en-GB" dirty="0"/>
              <a:t>Thank You!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EC83743-15DF-5215-1335-C457954F0AC8}"/>
              </a:ext>
            </a:extLst>
          </p:cNvPr>
          <p:cNvSpPr/>
          <p:nvPr userDrawn="1"/>
        </p:nvSpPr>
        <p:spPr>
          <a:xfrm rot="5400000">
            <a:off x="2272161" y="-700159"/>
            <a:ext cx="4633756" cy="13199636"/>
          </a:xfrm>
          <a:prstGeom prst="roundRect">
            <a:avLst>
              <a:gd name="adj" fmla="val 2622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09C35C-5F72-B478-0976-9BA5B70B3AF9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CFE2F3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48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ght - Main">
    <p:bg>
      <p:bgPr>
        <a:solidFill>
          <a:srgbClr val="DFF3FD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29C9826-0CE3-7C4B-D683-A1C19C6957AA}"/>
              </a:ext>
            </a:extLst>
          </p:cNvPr>
          <p:cNvSpPr/>
          <p:nvPr userDrawn="1"/>
        </p:nvSpPr>
        <p:spPr>
          <a:xfrm rot="5400000">
            <a:off x="-637538" y="701880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4000"/>
            <a:ext cx="9462670" cy="553998"/>
          </a:xfrm>
        </p:spPr>
        <p:txBody>
          <a:bodyPr>
            <a:spAutoFit/>
          </a:bodyPr>
          <a:lstStyle>
            <a:lvl1pPr>
              <a:defRPr>
                <a:solidFill>
                  <a:srgbClr val="062955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D6288-9E17-B744-8198-AA89061B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685446"/>
            <a:ext cx="9462670" cy="118955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800">
                <a:solidFill>
                  <a:srgbClr val="242D41"/>
                </a:solidFill>
              </a:defRPr>
            </a:lvl1pPr>
            <a:lvl2pPr>
              <a:defRPr sz="1800">
                <a:solidFill>
                  <a:srgbClr val="242D41"/>
                </a:solidFill>
              </a:defRPr>
            </a:lvl2pPr>
            <a:lvl3pPr>
              <a:defRPr sz="1800">
                <a:solidFill>
                  <a:srgbClr val="242D41"/>
                </a:solidFill>
              </a:defRPr>
            </a:lvl3pPr>
            <a:lvl4pPr>
              <a:defRPr sz="1800">
                <a:solidFill>
                  <a:srgbClr val="242D41"/>
                </a:solidFill>
              </a:defRPr>
            </a:lvl4pPr>
            <a:lvl5pPr>
              <a:defRPr>
                <a:solidFill>
                  <a:srgbClr val="242D4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3B5020-2488-D66C-615B-BFB237170F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9880" y="553451"/>
            <a:ext cx="1167938" cy="193255"/>
          </a:xfrm>
          <a:prstGeom prst="rect">
            <a:avLst/>
          </a:pr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32DF6B7-C760-0F07-2E67-9F27DA8ADABB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2C72C0B-77D9-BCF2-79CE-2EEEB645B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0D52FC8-8236-AECC-B519-C009E49B7A4A}"/>
              </a:ext>
            </a:extLst>
          </p:cNvPr>
          <p:cNvSpPr/>
          <p:nvPr userDrawn="1"/>
        </p:nvSpPr>
        <p:spPr>
          <a:xfrm>
            <a:off x="-376058" y="6252425"/>
            <a:ext cx="4114800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CF6A1B11-944C-82E4-2E07-5BF2F9797E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 dirty="0"/>
              <a:t> </a:t>
            </a:r>
            <a:r>
              <a:rPr lang="en-US" dirty="0" err="1"/>
              <a:t>TrustFlight</a:t>
            </a:r>
            <a:r>
              <a:rPr lang="en-US" dirty="0"/>
              <a:t> Ltd. All rights reserved.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5AE6FB-A7F7-1E30-2469-9359A92D13E2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rgbClr val="083976"/>
              </a:gs>
              <a:gs pos="0">
                <a:srgbClr val="051B3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24CA57A-87DD-A093-73EE-33B1F820A8FF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EB0D5F65-58DA-924A-726E-CC6B66C2EF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08631" y="553451"/>
            <a:ext cx="791137" cy="19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178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- Horizontal Split">
    <p:bg>
      <p:bgPr>
        <a:solidFill>
          <a:srgbClr val="DFF3FD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0F2557-1A29-544E-CDEF-6423CE8C59D9}"/>
              </a:ext>
            </a:extLst>
          </p:cNvPr>
          <p:cNvSpPr/>
          <p:nvPr userDrawn="1"/>
        </p:nvSpPr>
        <p:spPr>
          <a:xfrm>
            <a:off x="0" y="0"/>
            <a:ext cx="12192000" cy="3666931"/>
          </a:xfrm>
          <a:prstGeom prst="rect">
            <a:avLst/>
          </a:prstGeom>
          <a:solidFill>
            <a:srgbClr val="0310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32DF6B7-C760-0F07-2E67-9F27DA8ADABB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2C72C0B-77D9-BCF2-79CE-2EEEB645B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960C71-889C-65A6-0FC1-CE539D20D8B4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rgbClr val="083976"/>
              </a:gs>
              <a:gs pos="0">
                <a:srgbClr val="051B3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5B3B97F-CF1D-401B-80EF-67F683996964}"/>
              </a:ext>
            </a:extLst>
          </p:cNvPr>
          <p:cNvSpPr txBox="1">
            <a:spLocks/>
          </p:cNvSpPr>
          <p:nvPr userDrawn="1"/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914355" rtl="0" eaLnBrk="1" latinLnBrk="0" hangingPunct="1">
              <a:defRPr sz="1000" b="0" i="0" kern="120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77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5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3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7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CB0140F-DA95-5649-55DC-197DA35ADD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 dirty="0"/>
              <a:t> </a:t>
            </a:r>
            <a:r>
              <a:rPr lang="en-US" dirty="0" err="1"/>
              <a:t>TrustFlight</a:t>
            </a:r>
            <a:r>
              <a:rPr lang="en-US" dirty="0"/>
              <a:t> Ltd. All rights reserved.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19AA19-D362-65CC-9EFA-849D5EA57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4000"/>
            <a:ext cx="9462670" cy="553998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rgbClr val="E0E8F7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73ED372-315E-51E6-C2CA-9CFD1D760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652627"/>
            <a:ext cx="9462670" cy="118955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>
              <a:defRPr sz="1800" b="0" i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>
              <a:defRPr sz="1800" b="0" i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>
              <a:defRPr sz="1800" b="0" i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>
              <a:defRPr sz="1400">
                <a:solidFill>
                  <a:srgbClr val="E0E8F7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2014C7-6182-7239-C36F-EE77AE1157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9880" y="552098"/>
            <a:ext cx="1167938" cy="195962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4C8FF01-2D7A-1165-656F-AE27544A7F67}"/>
              </a:ext>
            </a:extLst>
          </p:cNvPr>
          <p:cNvSpPr/>
          <p:nvPr userDrawn="1"/>
        </p:nvSpPr>
        <p:spPr>
          <a:xfrm rot="5400000">
            <a:off x="-637538" y="701880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C35529A-B20C-61BE-786E-08410D1F3EDD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D0FBB4-40B9-27FD-3A14-4A0F4032E5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08631" y="553451"/>
            <a:ext cx="791137" cy="19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971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- Vertical Split">
    <p:bg>
      <p:bgPr>
        <a:solidFill>
          <a:srgbClr val="DFF3FD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0F2557-1A29-544E-CDEF-6423CE8C59D9}"/>
              </a:ext>
            </a:extLst>
          </p:cNvPr>
          <p:cNvSpPr/>
          <p:nvPr userDrawn="1"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rgbClr val="0310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52400"/>
            <a:ext cx="4390588" cy="1107996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32DF6B7-C760-0F07-2E67-9F27DA8ADABB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2C72C0B-77D9-BCF2-79CE-2EEEB645B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960C71-889C-65A6-0FC1-CE539D20D8B4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rgbClr val="083976"/>
              </a:gs>
              <a:gs pos="0">
                <a:srgbClr val="051B3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E0C8C0-28ED-C902-C910-7E8A43383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793025"/>
            <a:ext cx="4390588" cy="11895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>
                <a:solidFill>
                  <a:srgbClr val="242D4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57DAC76-BFD2-46CF-F748-7D0956ECC26D}"/>
              </a:ext>
            </a:extLst>
          </p:cNvPr>
          <p:cNvSpPr/>
          <p:nvPr userDrawn="1"/>
        </p:nvSpPr>
        <p:spPr>
          <a:xfrm rot="5400000">
            <a:off x="-637538" y="701880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C045780-084B-A2E0-7B53-406770048126}"/>
              </a:ext>
            </a:extLst>
          </p:cNvPr>
          <p:cNvSpPr/>
          <p:nvPr userDrawn="1"/>
        </p:nvSpPr>
        <p:spPr>
          <a:xfrm>
            <a:off x="-376058" y="6252425"/>
            <a:ext cx="4114800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350940A-FA50-6162-255B-50B39A372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CFE2F3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/>
              <a:t> TrustFlight Ltd. All rights reserved.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B9F04E-F7DE-9D0B-2336-0B86C6C1F2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9880" y="553451"/>
            <a:ext cx="1167938" cy="193255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1AB49F8-5AD7-8CA5-2B14-C7A1742C5484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254586F-854C-A6F9-1D45-488D911865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08631" y="553451"/>
            <a:ext cx="791137" cy="19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747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310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2349E2-4681-836F-67AB-F042E4764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95509"/>
            <a:ext cx="946267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2C9E27D-846D-45F6-DEE4-1BB9AE228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E0E8F7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EB207E-5FEB-EE51-3199-FB5D82211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549684"/>
            <a:ext cx="10515600" cy="191847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11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67" r:id="rId2"/>
    <p:sldLayoutId id="2147483669" r:id="rId3"/>
    <p:sldLayoutId id="2147483668" r:id="rId4"/>
    <p:sldLayoutId id="2147483670" r:id="rId5"/>
    <p:sldLayoutId id="2147483673" r:id="rId6"/>
    <p:sldLayoutId id="2147483674" r:id="rId7"/>
    <p:sldLayoutId id="2147483666" r:id="rId8"/>
    <p:sldLayoutId id="2147483665" r:id="rId9"/>
    <p:sldLayoutId id="2147483672" r:id="rId10"/>
    <p:sldLayoutId id="2147483675" r:id="rId11"/>
    <p:sldLayoutId id="2147483676" r:id="rId12"/>
  </p:sldLayoutIdLst>
  <p:hf hdr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rgbClr val="E0E8F7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Clr>
          <a:srgbClr val="1E5BB5"/>
        </a:buClr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Clr>
          <a:srgbClr val="1E5BB5"/>
        </a:buClr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Clr>
          <a:srgbClr val="1E5BB5"/>
        </a:buClr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Clr>
          <a:srgbClr val="1E5BB5"/>
        </a:buClr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Clr>
          <a:srgbClr val="1E5BB5"/>
        </a:buClr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company/redlineassured" TargetMode="External"/><Relationship Id="rId3" Type="http://schemas.openxmlformats.org/officeDocument/2006/relationships/hyperlink" Target="http://www.trustflight.com/" TargetMode="External"/><Relationship Id="rId7" Type="http://schemas.openxmlformats.org/officeDocument/2006/relationships/hyperlink" Target="https://www.trustredline.co.uk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6" Type="http://schemas.openxmlformats.org/officeDocument/2006/relationships/hyperlink" Target="mailto:sales@trustredline.co.uk?subject=Hello" TargetMode="External"/><Relationship Id="rId5" Type="http://schemas.openxmlformats.org/officeDocument/2006/relationships/image" Target="../media/image14.png"/><Relationship Id="rId4" Type="http://schemas.openxmlformats.org/officeDocument/2006/relationships/hyperlink" Target="https://www.linkedin.com/company/trustflight/mycompany/" TargetMode="External"/><Relationship Id="rId9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D6051-63E7-ECCC-A56B-A0A982A4E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A0630-8131-4E49-089A-37F0D9289B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43E4C-D4CA-3BFD-D240-11AE0A50DE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>
            <a:normAutofit/>
          </a:bodyPr>
          <a:lstStyle/>
          <a:p>
            <a:fld id="{C8A1BA17-5FCD-E84E-BA65-AF5582366495}" type="datetime4">
              <a:rPr lang="en-GB" smtClean="0"/>
              <a:t>12 June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448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A5DCBC-D7F7-8B50-AFE7-C618D183F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B377F6A-2966-294D-95D7-FBB58FDBE7C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382B3A-EB05-F3DF-CFA1-B5353CBBE6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/>
              <a:t> TrustFlight Ltd. All rights reserved. </a:t>
            </a:r>
            <a:endParaRPr lang="en-US" dirty="0"/>
          </a:p>
        </p:txBody>
      </p:sp>
      <p:pic>
        <p:nvPicPr>
          <p:cNvPr id="6" name="Picture 5" descr="A helicopter with a propeller&#10;&#10;Description automatically generated">
            <a:extLst>
              <a:ext uri="{FF2B5EF4-FFF2-40B4-BE49-F238E27FC236}">
                <a16:creationId xmlns:a16="http://schemas.microsoft.com/office/drawing/2014/main" id="{CDE660C7-0AA5-CDC3-65E0-4E54E45FF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28508">
            <a:off x="5535667" y="4502868"/>
            <a:ext cx="3239570" cy="965508"/>
          </a:xfrm>
          <a:prstGeom prst="rect">
            <a:avLst/>
          </a:prstGeom>
          <a:effectLst>
            <a:reflection blurRad="6350" stA="15000" endPos="63000" dist="227611" dir="5400000" sy="-100000" algn="bl" rotWithShape="0"/>
          </a:effectLst>
        </p:spPr>
      </p:pic>
      <p:pic>
        <p:nvPicPr>
          <p:cNvPr id="7" name="Picture 6" descr="A close-up of a plane&#10;&#10;Description automatically generated">
            <a:extLst>
              <a:ext uri="{FF2B5EF4-FFF2-40B4-BE49-F238E27FC236}">
                <a16:creationId xmlns:a16="http://schemas.microsoft.com/office/drawing/2014/main" id="{05746D87-88AB-3CDD-AB45-72641775C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46488">
            <a:off x="6598130" y="2078475"/>
            <a:ext cx="4831589" cy="1606517"/>
          </a:xfrm>
          <a:prstGeom prst="rect">
            <a:avLst/>
          </a:prstGeom>
        </p:spPr>
      </p:pic>
      <p:pic>
        <p:nvPicPr>
          <p:cNvPr id="8" name="Picture 7" descr="A blue and white airplane&#10;&#10;Description automatically generated">
            <a:extLst>
              <a:ext uri="{FF2B5EF4-FFF2-40B4-BE49-F238E27FC236}">
                <a16:creationId xmlns:a16="http://schemas.microsoft.com/office/drawing/2014/main" id="{FE2B91CB-2B3D-F1F4-E46F-073912D96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212173">
            <a:off x="5166270" y="633486"/>
            <a:ext cx="3505063" cy="112839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99761D1-0CEA-C763-534E-5778B8477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829399"/>
            <a:ext cx="9462670" cy="553998"/>
          </a:xfrm>
        </p:spPr>
        <p:txBody>
          <a:bodyPr/>
          <a:lstStyle/>
          <a:p>
            <a:r>
              <a:rPr lang="en-US" sz="4000" dirty="0"/>
              <a:t>Agenda</a:t>
            </a:r>
          </a:p>
        </p:txBody>
      </p:sp>
      <p:sp>
        <p:nvSpPr>
          <p:cNvPr id="10" name="Google Shape;110;p16">
            <a:extLst>
              <a:ext uri="{FF2B5EF4-FFF2-40B4-BE49-F238E27FC236}">
                <a16:creationId xmlns:a16="http://schemas.microsoft.com/office/drawing/2014/main" id="{A5B1C390-9E63-6667-A4ED-AE69B1C49F6F}"/>
              </a:ext>
            </a:extLst>
          </p:cNvPr>
          <p:cNvSpPr/>
          <p:nvPr/>
        </p:nvSpPr>
        <p:spPr>
          <a:xfrm>
            <a:off x="-351034" y="2120862"/>
            <a:ext cx="5212234" cy="66645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F7FF"/>
              </a:gs>
              <a:gs pos="100000">
                <a:srgbClr val="FFFFFF"/>
              </a:gs>
            </a:gsLst>
            <a:lin ang="13500000" scaled="0"/>
          </a:gra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2000" tIns="91425" rIns="91425" bIns="91425" anchor="ctr" anchorCtr="0">
            <a:noAutofit/>
          </a:bodyPr>
          <a:lstStyle/>
          <a:p>
            <a:pPr>
              <a:buClr>
                <a:srgbClr val="1E5BB5"/>
              </a:buClr>
            </a:pPr>
            <a:r>
              <a:rPr lang="en-GB" b="1" dirty="0">
                <a:solidFill>
                  <a:srgbClr val="1E5BB5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  <a:sym typeface="Open Sans"/>
              </a:rPr>
              <a:t>Item 1</a:t>
            </a:r>
          </a:p>
        </p:txBody>
      </p:sp>
      <p:sp>
        <p:nvSpPr>
          <p:cNvPr id="11" name="Google Shape;110;p16">
            <a:extLst>
              <a:ext uri="{FF2B5EF4-FFF2-40B4-BE49-F238E27FC236}">
                <a16:creationId xmlns:a16="http://schemas.microsoft.com/office/drawing/2014/main" id="{7B392FFF-CE04-6F22-9868-A2E05725993E}"/>
              </a:ext>
            </a:extLst>
          </p:cNvPr>
          <p:cNvSpPr/>
          <p:nvPr/>
        </p:nvSpPr>
        <p:spPr>
          <a:xfrm>
            <a:off x="-351034" y="2869008"/>
            <a:ext cx="5212234" cy="66645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F7FF"/>
              </a:gs>
              <a:gs pos="100000">
                <a:srgbClr val="FFFFFF"/>
              </a:gs>
            </a:gsLst>
            <a:lin ang="13500000" scaled="0"/>
          </a:gra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2000" tIns="91425" rIns="91425" bIns="91425" anchor="ctr" anchorCtr="0">
            <a:noAutofit/>
          </a:bodyPr>
          <a:lstStyle/>
          <a:p>
            <a:pPr>
              <a:buClr>
                <a:srgbClr val="1E5BB5"/>
              </a:buClr>
            </a:pPr>
            <a:r>
              <a:rPr lang="en-GB" b="1" dirty="0">
                <a:solidFill>
                  <a:srgbClr val="1E5BB5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  <a:sym typeface="Open Sans"/>
              </a:rPr>
              <a:t>Item 2</a:t>
            </a:r>
          </a:p>
        </p:txBody>
      </p:sp>
      <p:sp>
        <p:nvSpPr>
          <p:cNvPr id="12" name="Google Shape;110;p16">
            <a:extLst>
              <a:ext uri="{FF2B5EF4-FFF2-40B4-BE49-F238E27FC236}">
                <a16:creationId xmlns:a16="http://schemas.microsoft.com/office/drawing/2014/main" id="{898D6E48-4054-B90C-D21D-B19513906402}"/>
              </a:ext>
            </a:extLst>
          </p:cNvPr>
          <p:cNvSpPr/>
          <p:nvPr/>
        </p:nvSpPr>
        <p:spPr>
          <a:xfrm>
            <a:off x="-351034" y="3617153"/>
            <a:ext cx="5212234" cy="66645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F7FF"/>
              </a:gs>
              <a:gs pos="100000">
                <a:srgbClr val="FFFFFF"/>
              </a:gs>
            </a:gsLst>
            <a:lin ang="13500000" scaled="0"/>
          </a:gra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2000" tIns="91425" rIns="91425" bIns="91425" anchor="ctr" anchorCtr="0">
            <a:noAutofit/>
          </a:bodyPr>
          <a:lstStyle/>
          <a:p>
            <a:pPr>
              <a:buClr>
                <a:srgbClr val="1E5BB5"/>
              </a:buClr>
            </a:pPr>
            <a:r>
              <a:rPr lang="en-GB" b="1" dirty="0">
                <a:solidFill>
                  <a:srgbClr val="1E5BB5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  <a:sym typeface="Open Sans"/>
              </a:rPr>
              <a:t>Item 3</a:t>
            </a:r>
          </a:p>
        </p:txBody>
      </p:sp>
      <p:sp>
        <p:nvSpPr>
          <p:cNvPr id="13" name="Google Shape;110;p16">
            <a:extLst>
              <a:ext uri="{FF2B5EF4-FFF2-40B4-BE49-F238E27FC236}">
                <a16:creationId xmlns:a16="http://schemas.microsoft.com/office/drawing/2014/main" id="{956B4C66-97D5-FE92-971B-27FAA394C287}"/>
              </a:ext>
            </a:extLst>
          </p:cNvPr>
          <p:cNvSpPr/>
          <p:nvPr/>
        </p:nvSpPr>
        <p:spPr>
          <a:xfrm>
            <a:off x="-351034" y="4365299"/>
            <a:ext cx="5212234" cy="66645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F7FF"/>
              </a:gs>
              <a:gs pos="100000">
                <a:srgbClr val="FFFFFF"/>
              </a:gs>
            </a:gsLst>
            <a:lin ang="13500000" scaled="0"/>
          </a:gra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2000" tIns="91425" rIns="91425" bIns="91425" anchor="ctr" anchorCtr="0">
            <a:noAutofit/>
          </a:bodyPr>
          <a:lstStyle/>
          <a:p>
            <a:pPr>
              <a:buClr>
                <a:srgbClr val="1E5BB5"/>
              </a:buClr>
            </a:pPr>
            <a:r>
              <a:rPr lang="en-GB" b="1" dirty="0">
                <a:solidFill>
                  <a:srgbClr val="1E5BB5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  <a:sym typeface="Open Sans"/>
              </a:rPr>
              <a:t>Item 4</a:t>
            </a:r>
          </a:p>
        </p:txBody>
      </p:sp>
      <p:sp>
        <p:nvSpPr>
          <p:cNvPr id="14" name="Google Shape;110;p16">
            <a:extLst>
              <a:ext uri="{FF2B5EF4-FFF2-40B4-BE49-F238E27FC236}">
                <a16:creationId xmlns:a16="http://schemas.microsoft.com/office/drawing/2014/main" id="{3F0E9F40-EF00-9DC1-3A06-95F66587E57C}"/>
              </a:ext>
            </a:extLst>
          </p:cNvPr>
          <p:cNvSpPr/>
          <p:nvPr/>
        </p:nvSpPr>
        <p:spPr>
          <a:xfrm>
            <a:off x="-351034" y="5113444"/>
            <a:ext cx="5212234" cy="66645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F7FF"/>
              </a:gs>
              <a:gs pos="100000">
                <a:srgbClr val="FFFFFF"/>
              </a:gs>
            </a:gsLst>
            <a:lin ang="13500000" scaled="0"/>
          </a:gra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2000" tIns="91425" rIns="91425" bIns="91425" anchor="ctr" anchorCtr="0">
            <a:noAutofit/>
          </a:bodyPr>
          <a:lstStyle/>
          <a:p>
            <a:pPr>
              <a:buClr>
                <a:srgbClr val="1E5BB5"/>
              </a:buClr>
            </a:pPr>
            <a:r>
              <a:rPr lang="en-GB" b="1" dirty="0">
                <a:solidFill>
                  <a:srgbClr val="1E5BB5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  <a:sym typeface="Open Sans"/>
              </a:rPr>
              <a:t>Item 5</a:t>
            </a:r>
          </a:p>
        </p:txBody>
      </p:sp>
    </p:spTree>
    <p:extLst>
      <p:ext uri="{BB962C8B-B14F-4D97-AF65-F5344CB8AC3E}">
        <p14:creationId xmlns:p14="http://schemas.microsoft.com/office/powerpoint/2010/main" val="1684320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41E22-4416-A494-EF9C-ECE7F9361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1" y="2875002"/>
            <a:ext cx="8331626" cy="553998"/>
          </a:xfrm>
        </p:spPr>
        <p:txBody>
          <a:bodyPr/>
          <a:lstStyle/>
          <a:p>
            <a:r>
              <a:rPr lang="en-US" sz="4000" dirty="0"/>
              <a:t>Section Break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F385A-EDA9-765B-DCFE-F86BCA14F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B377F6A-2966-294D-95D7-FBB58FDBE7C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B3D7ED2-BB62-C756-333E-8AFB5FFF1C43}"/>
              </a:ext>
            </a:extLst>
          </p:cNvPr>
          <p:cNvSpPr txBox="1">
            <a:spLocks/>
          </p:cNvSpPr>
          <p:nvPr/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355" rtl="0" eaLnBrk="1" latinLnBrk="0" hangingPunct="1">
              <a:defRPr sz="1000" b="0" i="0" kern="120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77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5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3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7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CFE2F3"/>
                </a:solidFill>
              </a:rPr>
              <a:t>©</a:t>
            </a:r>
            <a:fld id="{3FEB6F09-2C38-294C-994A-AB349969DE87}" type="datetimeyyyy">
              <a:rPr lang="en-GB" smtClean="0">
                <a:solidFill>
                  <a:srgbClr val="CFE2F3"/>
                </a:solidFill>
              </a:rPr>
              <a:pPr/>
              <a:t>2026</a:t>
            </a:fld>
            <a:r>
              <a:rPr lang="en-US">
                <a:solidFill>
                  <a:srgbClr val="CFE2F3"/>
                </a:solidFill>
              </a:rPr>
              <a:t> TrustFlight Ltd. All rights reserved. </a:t>
            </a:r>
            <a:endParaRPr lang="en-US" dirty="0">
              <a:solidFill>
                <a:srgbClr val="CFE2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0649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66096B-8C46-3BA2-D97C-4E2EE03824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B377F6A-2966-294D-95D7-FBB58FDBE7C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5C10E2-09F7-A408-DABC-D88E6FD3C2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 dirty="0"/>
              <a:t> TrustFlight Ltd. All rights reserved.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4940188-9A3A-52A9-CA08-A8EAC059D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4000"/>
            <a:ext cx="9462670" cy="553998"/>
          </a:xfrm>
        </p:spPr>
        <p:txBody>
          <a:bodyPr/>
          <a:lstStyle/>
          <a:p>
            <a:r>
              <a:rPr lang="en-US" sz="4000" dirty="0"/>
              <a:t>Slide Title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2D7855-27A0-05F0-C6A3-FAE31F47933A}"/>
              </a:ext>
            </a:extLst>
          </p:cNvPr>
          <p:cNvSpPr txBox="1"/>
          <p:nvPr/>
        </p:nvSpPr>
        <p:spPr>
          <a:xfrm>
            <a:off x="546099" y="1376160"/>
            <a:ext cx="9396187" cy="307777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en-US" sz="2000" dirty="0">
                <a:solidFill>
                  <a:srgbClr val="479FF8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1296111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66096B-8C46-3BA2-D97C-4E2EE03824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B377F6A-2966-294D-95D7-FBB58FDBE7C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5C10E2-09F7-A408-DABC-D88E6FD3C2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 dirty="0"/>
              <a:t> TrustFlight Ltd. All rights reserved. 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06E2CBAA-657A-EF27-95BC-D5E773961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4000"/>
            <a:ext cx="5310467" cy="553998"/>
          </a:xfrm>
        </p:spPr>
        <p:txBody>
          <a:bodyPr/>
          <a:lstStyle/>
          <a:p>
            <a:r>
              <a:rPr lang="en-US" sz="4000" dirty="0"/>
              <a:t>Slide Title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3D4EC7-BDE8-0754-7433-BE79F272B7F4}"/>
              </a:ext>
            </a:extLst>
          </p:cNvPr>
          <p:cNvSpPr txBox="1"/>
          <p:nvPr/>
        </p:nvSpPr>
        <p:spPr>
          <a:xfrm>
            <a:off x="546099" y="1376160"/>
            <a:ext cx="5273157" cy="307777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en-US" sz="2000" dirty="0">
                <a:solidFill>
                  <a:srgbClr val="479FF8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3100529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0306"/>
            </a:gs>
            <a:gs pos="100000">
              <a:srgbClr val="031022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5CB51-C492-0CF3-B897-F182A96F8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3887"/>
            <a:ext cx="9462670" cy="553998"/>
          </a:xfrm>
        </p:spPr>
        <p:txBody>
          <a:bodyPr/>
          <a:lstStyle/>
          <a:p>
            <a:r>
              <a:rPr lang="en-US" sz="4000" dirty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Slide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A66E9-8931-42A9-646A-62CD922C3D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B377F6A-2966-294D-95D7-FBB58FDBE7C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098A5-FDA6-218B-8FDA-301521600D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 dirty="0"/>
              <a:t> </a:t>
            </a:r>
            <a:r>
              <a:rPr lang="en-US" dirty="0" err="1"/>
              <a:t>TrustFlight</a:t>
            </a:r>
            <a:r>
              <a:rPr lang="en-US" dirty="0"/>
              <a:t> Ltd.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2701429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42FB2-D27B-8EA1-E477-92FB93D59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4000"/>
            <a:ext cx="9462670" cy="553998"/>
          </a:xfrm>
        </p:spPr>
        <p:txBody>
          <a:bodyPr/>
          <a:lstStyle/>
          <a:p>
            <a:r>
              <a:rPr lang="en-US" sz="4000" dirty="0"/>
              <a:t>Slide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562A10-B3FE-CCD6-3B68-053CD49D04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B377F6A-2966-294D-95D7-FBB58FDBE7C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7A6A3014-D139-ED15-CA4C-45DFB26D1B85}"/>
              </a:ext>
            </a:extLst>
          </p:cNvPr>
          <p:cNvSpPr txBox="1">
            <a:spLocks/>
          </p:cNvSpPr>
          <p:nvPr/>
        </p:nvSpPr>
        <p:spPr>
          <a:xfrm>
            <a:off x="540000" y="1382429"/>
            <a:ext cx="6905829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589" indent="-228589" algn="l" defTabSz="914355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  <a:lvl2pPr marL="68576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2pPr>
            <a:lvl3pPr marL="1142943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3pPr>
            <a:lvl4pPr marL="1600120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4pPr>
            <a:lvl5pPr marL="2057297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5pPr>
            <a:lvl6pPr marL="2514475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Clr>
                <a:srgbClr val="479FF8"/>
              </a:buClr>
              <a:buSzPct val="150000"/>
              <a:buNone/>
            </a:pPr>
            <a:r>
              <a:rPr lang="en-US" sz="1400" b="1" dirty="0">
                <a:solidFill>
                  <a:srgbClr val="1E5BB5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Slide subtitle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D32B7AD-73A8-00A3-C5D2-3206338E2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 dirty="0"/>
              <a:t> </a:t>
            </a:r>
            <a:r>
              <a:rPr lang="en-US" dirty="0" err="1"/>
              <a:t>TrustFlight</a:t>
            </a:r>
            <a:r>
              <a:rPr lang="en-US" dirty="0"/>
              <a:t> Ltd.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379980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580264-AD48-E7A1-EBA8-77BFFA12347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79043" y="3977042"/>
            <a:ext cx="2682064" cy="450009"/>
          </a:xfrm>
          <a:prstGeom prst="rect">
            <a:avLst/>
          </a:prstGeom>
        </p:spPr>
      </p:pic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B8CA0451-C618-FDB1-1BE4-50B1351F562A}"/>
              </a:ext>
            </a:extLst>
          </p:cNvPr>
          <p:cNvSpPr txBox="1">
            <a:spLocks/>
          </p:cNvSpPr>
          <p:nvPr/>
        </p:nvSpPr>
        <p:spPr>
          <a:xfrm>
            <a:off x="7040965" y="4525978"/>
            <a:ext cx="364109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589" indent="-228589" algn="l" defTabSz="914355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  <a:lvl2pPr marL="68576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2pPr>
            <a:lvl3pPr marL="1142943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3pPr>
            <a:lvl4pPr marL="1600120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4pPr>
            <a:lvl5pPr marL="2057297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5pPr>
            <a:lvl6pPr marL="2514475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79FF8"/>
              </a:buClr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FE2F3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TrustFlight is the Aerospace Safety Intelligence Platform, integrating safety and security technology, training and consulting, and crisis management and response into a single connected ecosystem.</a:t>
            </a:r>
          </a:p>
        </p:txBody>
      </p:sp>
      <p:sp>
        <p:nvSpPr>
          <p:cNvPr id="4" name="Rounded Rectangle 3">
            <a:hlinkClick r:id="rId3"/>
            <a:extLst>
              <a:ext uri="{FF2B5EF4-FFF2-40B4-BE49-F238E27FC236}">
                <a16:creationId xmlns:a16="http://schemas.microsoft.com/office/drawing/2014/main" id="{2B7ECC57-6044-6A3F-843C-B514C97BFA29}"/>
              </a:ext>
            </a:extLst>
          </p:cNvPr>
          <p:cNvSpPr/>
          <p:nvPr/>
        </p:nvSpPr>
        <p:spPr>
          <a:xfrm>
            <a:off x="7040964" y="5535395"/>
            <a:ext cx="2073927" cy="468923"/>
          </a:xfrm>
          <a:prstGeom prst="roundRect">
            <a:avLst>
              <a:gd name="adj" fmla="val 50000"/>
            </a:avLst>
          </a:prstGeom>
          <a:solidFill>
            <a:srgbClr val="083976">
              <a:alpha val="25000"/>
            </a:srgbClr>
          </a:solidFill>
          <a:ln w="6350">
            <a:solidFill>
              <a:srgbClr val="00D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trustflight.com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SemiBold" pitchFamily="2" charset="0"/>
              <a:ea typeface="Open Sans SemiBold" pitchFamily="2" charset="0"/>
              <a:cs typeface="Open Sans SemiBold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F2A4575-1B1D-C35B-055B-2C346C07BB3E}"/>
              </a:ext>
            </a:extLst>
          </p:cNvPr>
          <p:cNvGrpSpPr/>
          <p:nvPr/>
        </p:nvGrpSpPr>
        <p:grpSpPr>
          <a:xfrm>
            <a:off x="9213976" y="5535395"/>
            <a:ext cx="727080" cy="468923"/>
            <a:chOff x="9236978" y="5833626"/>
            <a:chExt cx="727080" cy="468923"/>
          </a:xfrm>
        </p:grpSpPr>
        <p:sp>
          <p:nvSpPr>
            <p:cNvPr id="7" name="Rounded Rectangle 6">
              <a:hlinkClick r:id="rId4"/>
              <a:extLst>
                <a:ext uri="{FF2B5EF4-FFF2-40B4-BE49-F238E27FC236}">
                  <a16:creationId xmlns:a16="http://schemas.microsoft.com/office/drawing/2014/main" id="{ACF9ECF5-22C9-4DE8-B852-C000E5999017}"/>
                </a:ext>
              </a:extLst>
            </p:cNvPr>
            <p:cNvSpPr/>
            <p:nvPr/>
          </p:nvSpPr>
          <p:spPr>
            <a:xfrm>
              <a:off x="9236978" y="5833626"/>
              <a:ext cx="727080" cy="468923"/>
            </a:xfrm>
            <a:prstGeom prst="roundRect">
              <a:avLst>
                <a:gd name="adj" fmla="val 50000"/>
              </a:avLst>
            </a:prstGeom>
            <a:solidFill>
              <a:srgbClr val="083976">
                <a:alpha val="25000"/>
              </a:srgbClr>
            </a:solidFill>
            <a:ln w="6350">
              <a:solidFill>
                <a:srgbClr val="00D5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21B7704-3271-53A5-B845-75784F166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498078" y="5942928"/>
              <a:ext cx="213653" cy="213653"/>
            </a:xfrm>
            <a:prstGeom prst="rect">
              <a:avLst/>
            </a:prstGeom>
          </p:spPr>
        </p:pic>
      </p:grpSp>
      <p:sp>
        <p:nvSpPr>
          <p:cNvPr id="26" name="Title 1">
            <a:extLst>
              <a:ext uri="{FF2B5EF4-FFF2-40B4-BE49-F238E27FC236}">
                <a16:creationId xmlns:a16="http://schemas.microsoft.com/office/drawing/2014/main" id="{64E2E40C-4788-82E3-71C8-781CBB81E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778" y="2133060"/>
            <a:ext cx="9354088" cy="747897"/>
          </a:xfrm>
        </p:spPr>
        <p:txBody>
          <a:bodyPr lIns="0" tIns="0" rIns="0" bIns="0"/>
          <a:lstStyle/>
          <a:p>
            <a:pPr algn="l"/>
            <a:r>
              <a:rPr lang="en-US" dirty="0"/>
              <a:t>Thank You</a:t>
            </a:r>
          </a:p>
        </p:txBody>
      </p:sp>
      <p:sp>
        <p:nvSpPr>
          <p:cNvPr id="27" name="Rounded Rectangle 26">
            <a:hlinkClick r:id="rId6"/>
            <a:extLst>
              <a:ext uri="{FF2B5EF4-FFF2-40B4-BE49-F238E27FC236}">
                <a16:creationId xmlns:a16="http://schemas.microsoft.com/office/drawing/2014/main" id="{0E95DC54-7BAF-A015-7D14-37487D1F1144}"/>
              </a:ext>
            </a:extLst>
          </p:cNvPr>
          <p:cNvSpPr/>
          <p:nvPr/>
        </p:nvSpPr>
        <p:spPr>
          <a:xfrm>
            <a:off x="1234538" y="5519232"/>
            <a:ext cx="2989120" cy="468923"/>
          </a:xfrm>
          <a:prstGeom prst="roundRect">
            <a:avLst>
              <a:gd name="adj" fmla="val 50000"/>
            </a:avLst>
          </a:prstGeom>
          <a:solidFill>
            <a:srgbClr val="083976">
              <a:alpha val="25000"/>
            </a:srgbClr>
          </a:solidFill>
          <a:ln w="6350">
            <a:solidFill>
              <a:srgbClr val="00D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rgbClr val="00D5FF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sales@trustredline.co.uk</a:t>
            </a:r>
            <a:endParaRPr lang="en-US" sz="1400" b="1" dirty="0">
              <a:solidFill>
                <a:srgbClr val="00D5FF"/>
              </a:solidFill>
              <a:latin typeface="Open Sans SemiBold" pitchFamily="2" charset="0"/>
              <a:ea typeface="Open Sans SemiBold" pitchFamily="2" charset="0"/>
              <a:cs typeface="Open Sans SemiBold" pitchFamily="2" charset="0"/>
            </a:endParaRPr>
          </a:p>
        </p:txBody>
      </p:sp>
      <p:sp>
        <p:nvSpPr>
          <p:cNvPr id="28" name="Rounded Rectangle 27">
            <a:hlinkClick r:id="rId7"/>
            <a:extLst>
              <a:ext uri="{FF2B5EF4-FFF2-40B4-BE49-F238E27FC236}">
                <a16:creationId xmlns:a16="http://schemas.microsoft.com/office/drawing/2014/main" id="{61A30B9D-CEE4-7583-A96E-0F781C9835EA}"/>
              </a:ext>
            </a:extLst>
          </p:cNvPr>
          <p:cNvSpPr/>
          <p:nvPr/>
        </p:nvSpPr>
        <p:spPr>
          <a:xfrm>
            <a:off x="1199779" y="4872781"/>
            <a:ext cx="2543089" cy="468923"/>
          </a:xfrm>
          <a:prstGeom prst="roundRect">
            <a:avLst>
              <a:gd name="adj" fmla="val 50000"/>
            </a:avLst>
          </a:prstGeom>
          <a:solidFill>
            <a:srgbClr val="083976">
              <a:alpha val="25000"/>
            </a:srgbClr>
          </a:solidFill>
          <a:ln w="6350">
            <a:solidFill>
              <a:srgbClr val="00D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trustredline.co.uk</a:t>
            </a:r>
            <a:endParaRPr lang="en-US" sz="1400" b="1" dirty="0">
              <a:latin typeface="Open Sans SemiBold" pitchFamily="2" charset="0"/>
              <a:ea typeface="Open Sans SemiBold" pitchFamily="2" charset="0"/>
              <a:cs typeface="Open Sans SemiBold" pitchFamily="2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F4544D7-BF9B-CBC9-BF7C-E42A7C1B0F18}"/>
              </a:ext>
            </a:extLst>
          </p:cNvPr>
          <p:cNvSpPr/>
          <p:nvPr/>
        </p:nvSpPr>
        <p:spPr>
          <a:xfrm>
            <a:off x="3834829" y="4872781"/>
            <a:ext cx="2183114" cy="468923"/>
          </a:xfrm>
          <a:prstGeom prst="roundRect">
            <a:avLst>
              <a:gd name="adj" fmla="val 50000"/>
            </a:avLst>
          </a:prstGeom>
          <a:solidFill>
            <a:srgbClr val="083976">
              <a:alpha val="25000"/>
            </a:srgbClr>
          </a:solidFill>
          <a:ln w="6350">
            <a:solidFill>
              <a:srgbClr val="00D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D5FF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+44 130 228 8360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6A76FD3-33AB-362A-2DCA-95866C972044}"/>
              </a:ext>
            </a:extLst>
          </p:cNvPr>
          <p:cNvGrpSpPr/>
          <p:nvPr/>
        </p:nvGrpSpPr>
        <p:grpSpPr>
          <a:xfrm>
            <a:off x="4322743" y="5535395"/>
            <a:ext cx="727080" cy="468923"/>
            <a:chOff x="9236978" y="5833626"/>
            <a:chExt cx="727080" cy="468923"/>
          </a:xfrm>
        </p:grpSpPr>
        <p:sp>
          <p:nvSpPr>
            <p:cNvPr id="31" name="Rounded Rectangle 30">
              <a:hlinkClick r:id="rId8"/>
              <a:extLst>
                <a:ext uri="{FF2B5EF4-FFF2-40B4-BE49-F238E27FC236}">
                  <a16:creationId xmlns:a16="http://schemas.microsoft.com/office/drawing/2014/main" id="{D68598BC-B36B-D72F-656D-0B552AE236D6}"/>
                </a:ext>
              </a:extLst>
            </p:cNvPr>
            <p:cNvSpPr/>
            <p:nvPr/>
          </p:nvSpPr>
          <p:spPr>
            <a:xfrm>
              <a:off x="9236978" y="5833626"/>
              <a:ext cx="727080" cy="468923"/>
            </a:xfrm>
            <a:prstGeom prst="roundRect">
              <a:avLst>
                <a:gd name="adj" fmla="val 50000"/>
              </a:avLst>
            </a:prstGeom>
            <a:solidFill>
              <a:srgbClr val="083976">
                <a:alpha val="25000"/>
              </a:srgbClr>
            </a:solidFill>
            <a:ln w="6350">
              <a:solidFill>
                <a:srgbClr val="00D5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latin typeface="Open Sans SemiBold" pitchFamily="2" charset="0"/>
                <a:ea typeface="Open Sans SemiBold" pitchFamily="2" charset="0"/>
                <a:cs typeface="Open Sans SemiBold" pitchFamily="2" charset="0"/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DEE28B18-5E3D-C2EA-3ED1-82FBB5189F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498078" y="5942928"/>
              <a:ext cx="213653" cy="213653"/>
            </a:xfrm>
            <a:prstGeom prst="rect">
              <a:avLst/>
            </a:prstGeom>
          </p:spPr>
        </p:pic>
      </p:grpSp>
      <p:pic>
        <p:nvPicPr>
          <p:cNvPr id="33" name="Graphic 32">
            <a:extLst>
              <a:ext uri="{FF2B5EF4-FFF2-40B4-BE49-F238E27FC236}">
                <a16:creationId xmlns:a16="http://schemas.microsoft.com/office/drawing/2014/main" id="{FDFC94C3-6D4A-9560-94E1-E26C6C5A3F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-5759" b="-2355"/>
          <a:stretch>
            <a:fillRect/>
          </a:stretch>
        </p:blipFill>
        <p:spPr>
          <a:xfrm>
            <a:off x="1199779" y="3941986"/>
            <a:ext cx="1703925" cy="450009"/>
          </a:xfrm>
          <a:prstGeom prst="rect">
            <a:avLst/>
          </a:prstGeom>
        </p:spPr>
      </p:pic>
      <p:sp>
        <p:nvSpPr>
          <p:cNvPr id="34" name="Content Placeholder 4">
            <a:extLst>
              <a:ext uri="{FF2B5EF4-FFF2-40B4-BE49-F238E27FC236}">
                <a16:creationId xmlns:a16="http://schemas.microsoft.com/office/drawing/2014/main" id="{A016B976-37B2-1D34-62DA-0816CF7CC2C3}"/>
              </a:ext>
            </a:extLst>
          </p:cNvPr>
          <p:cNvSpPr txBox="1">
            <a:spLocks/>
          </p:cNvSpPr>
          <p:nvPr/>
        </p:nvSpPr>
        <p:spPr>
          <a:xfrm>
            <a:off x="1199779" y="4525978"/>
            <a:ext cx="4818164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589" indent="-228589" algn="l" defTabSz="914355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  <a:lvl2pPr marL="68576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2pPr>
            <a:lvl3pPr marL="1142943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3pPr>
            <a:lvl4pPr marL="1600120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4pPr>
            <a:lvl5pPr marL="2057297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5pPr>
            <a:lvl6pPr marL="2514475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79FF8"/>
              </a:buClr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u="none" strike="noStrike" kern="1200" cap="none" spc="0" normalizeH="0" baseline="0" noProof="0" dirty="0">
                <a:ln>
                  <a:noFill/>
                </a:ln>
                <a:solidFill>
                  <a:srgbClr val="CFE2F3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20 years of being there when it matters most.</a:t>
            </a:r>
          </a:p>
        </p:txBody>
      </p:sp>
    </p:spTree>
    <p:extLst>
      <p:ext uri="{BB962C8B-B14F-4D97-AF65-F5344CB8AC3E}">
        <p14:creationId xmlns:p14="http://schemas.microsoft.com/office/powerpoint/2010/main" val="119104361"/>
      </p:ext>
    </p:extLst>
  </p:cSld>
  <p:clrMapOvr>
    <a:masterClrMapping/>
  </p:clrMapOvr>
</p:sld>
</file>

<file path=ppt/theme/theme1.xml><?xml version="1.0" encoding="utf-8"?>
<a:theme xmlns:a="http://schemas.openxmlformats.org/drawingml/2006/main" name="Dar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aster Presentation Template v2.1" id="{2FBCECD7-838F-B84F-9CC9-2ABC1C915E3A}" vid="{741AF9E2-8FDF-DB4C-B80C-59F02AB602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86f6ea3-4ea6-437c-a297-c135d4f2e74c">
      <Terms xmlns="http://schemas.microsoft.com/office/infopath/2007/PartnerControls"/>
    </lcf76f155ced4ddcb4097134ff3c332f>
    <TaxCatchAll xmlns="f61f66a0-0880-4c0b-b123-6e5c0c961f2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8ECDB296534D4A9769597AD82280A0" ma:contentTypeVersion="13" ma:contentTypeDescription="Create a new document." ma:contentTypeScope="" ma:versionID="e87e6628bbf81cd255d30c48b4445ae1">
  <xsd:schema xmlns:xsd="http://www.w3.org/2001/XMLSchema" xmlns:xs="http://www.w3.org/2001/XMLSchema" xmlns:p="http://schemas.microsoft.com/office/2006/metadata/properties" xmlns:ns2="786f6ea3-4ea6-437c-a297-c135d4f2e74c" xmlns:ns3="f61f66a0-0880-4c0b-b123-6e5c0c961f27" targetNamespace="http://schemas.microsoft.com/office/2006/metadata/properties" ma:root="true" ma:fieldsID="213364783f13fe8fce2791cc90fb8a52" ns2:_="" ns3:_="">
    <xsd:import namespace="786f6ea3-4ea6-437c-a297-c135d4f2e74c"/>
    <xsd:import namespace="f61f66a0-0880-4c0b-b123-6e5c0c961f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6f6ea3-4ea6-437c-a297-c135d4f2e7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64dd094-1789-492b-b53b-02698a9faf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f66a0-0880-4c0b-b123-6e5c0c961f2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7f59b13-3799-4695-8bbe-164d9d0a9ffd}" ma:internalName="TaxCatchAll" ma:showField="CatchAllData" ma:web="f61f66a0-0880-4c0b-b123-6e5c0c961f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B22FEE-1B56-42A8-8CFB-FF76A629D59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3EAB162-098D-4AAD-B447-7AA8F957B0D7}">
  <ds:schemaRefs>
    <ds:schemaRef ds:uri="786f6ea3-4ea6-437c-a297-c135d4f2e74c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purl.org/dc/dcmitype/"/>
    <ds:schemaRef ds:uri="http://purl.org/dc/terms/"/>
    <ds:schemaRef ds:uri="http://schemas.microsoft.com/office/2006/metadata/properties"/>
    <ds:schemaRef ds:uri="http://schemas.microsoft.com/office/infopath/2007/PartnerControls"/>
    <ds:schemaRef ds:uri="f61f66a0-0880-4c0b-b123-6e5c0c961f27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26961EF-F0F6-44FB-A519-2139151946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86f6ea3-4ea6-437c-a297-c135d4f2e74c"/>
    <ds:schemaRef ds:uri="f61f66a0-0880-4c0b-b123-6e5c0c961f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19929</TotalTime>
  <Words>225</Words>
  <Application>Microsoft Macintosh PowerPoint</Application>
  <PresentationFormat>Widescreen</PresentationFormat>
  <Paragraphs>44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Open Sans Light</vt:lpstr>
      <vt:lpstr>Open Sans SemiBold</vt:lpstr>
      <vt:lpstr>Dark</vt:lpstr>
      <vt:lpstr>PowerPoint Presentation</vt:lpstr>
      <vt:lpstr>Agenda</vt:lpstr>
      <vt:lpstr>Section Break</vt:lpstr>
      <vt:lpstr>Slide Title</vt:lpstr>
      <vt:lpstr>Slide Title</vt:lpstr>
      <vt:lpstr>Slide Title</vt:lpstr>
      <vt:lpstr>Slide Title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Alexandru Craiu</dc:creator>
  <cp:lastModifiedBy>Alexandru Craiu</cp:lastModifiedBy>
  <cp:revision>22</cp:revision>
  <dcterms:created xsi:type="dcterms:W3CDTF">2026-01-30T14:24:02Z</dcterms:created>
  <dcterms:modified xsi:type="dcterms:W3CDTF">2026-06-12T09:28:32Z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0x010100128ECDB296534D4A9769597AD82280A0</vt:lpwstr>
  </property>
  <property fmtid="{D5CDD505-2E9C-101B-9397-08002B2CF9AE}" pid="3" name="MediaServiceImageTags">
    <vt:lpwstr/>
  </property>
</Properties>
</file>